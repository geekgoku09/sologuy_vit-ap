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or afternoon]. We are [Team name] from [College or incubator], and this is our proof-of-concept digital twin for glucose. In India, an estimated 101 million people live with diabetes and another 136 million with prediabetes, yet glucose is usually seen in snapshots: a clinic reading here, a lab value there. Our twin joins a patient’s electronic health record with their wearable data and warns, two hours ahead, when glucose is likely to rise above 180 milligrams per decilitre. Over the next twenty minutes we will cover the problem, the data, the architecture, how we evaluate honestly, the doctor dashboard, and what comes next. One promise up front: every number you see comes from code in our public repository, and anything we have not run is marked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scale. The ICMR–INDIAB national survey, published in The Lancet Diabetes and Endocrinology in 2023, estimated 101 million people in India with diabetes, a prevalence of 11.4 percent, and another 136 million with prediabetes, 15.3 percent. It also estimated 315 million people with hypertension, which shows how much of the burden is chronic and metabolic. The survey covered 113,043 people across the country. These figures are summarised in a 2023 commentary in the National Medical Journal of India. We focus on glucose, because prediabetes is the prevention window. These 136 million people do not yet have diabetes, so earlier feedback on how their glucose behaves day to day could change what they eat and how they move. The same logic holds for people who already have type 2 diabetes. The question for our project is simple: can we see trouble coming before it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keep us blind to what glucose actually does. A clinic visit gives one reading at one moment. HbA1c summarises roughly the last two to three months, so it can look acceptable while spikes happen after meals. And wearables and continuous glucose monitors give a continuous stream, but that stream usually stays apart from the medical record. The effect shows up in outcomes. An earlier ICMR–INDIAB analysis, cited in a 2023 commentary, found that fewer than 7 percent of people with self-reported diabetes had HbA1c, blood pressure and cholesterol all on target together. We are not claiming our tool fixes that. We are claiming that joining the record with the stream gives a doctor something they do not have today: a forward-looking view of one patient. That joined view is what we mean by a digital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question our twin answers. For a patient whose glucose is below 180 milligrams per decilitre right now, will it rise above 180 at any point in the next two hours? 180 is the upper edge of the 70 to 180 range that continuous glucose monitor reports use for time in range, so a crossing is a clinically familiar event. We define the event precisely so that results are honest: the first reading above 180 after at least an hour below it. An alert counts as a detection only if it fired between 15 and 120 minutes before that event, because a warning that arrives after the spike, or too early to matter, is not useful. The people who act are the clinician and the patient, through choices about the next meal, a walk, or dinner time. We only score moments when glucose is currently below 180, so the model has to warn about a new excursion rather than echo one that is already happening. The drawing is a schematic,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asks us to fuse two kinds of data, and we kept that fusion at the centre of the design. The static stream is the electronic health record: demographics, past diagnoses and comorbidities, laboratory results such as HbA1c, fasting glucose, insulin and lipids, medications, and genetic markers. It changes slowly, but it tells the model who the patient is. The dynamic stream comes from wearables and IoT devices: continuous glucose readings, heart rate, steps and activity, sleep stages and heart-rate variability, and meal logs with their carbohydrate, protein and fat content. It changes minute by minute and tells the model what is happening now. Real datasets rarely contain every signal. The open data we use has glucose, heart rate, activity and meals, but not always sleep, HRV or genetic markers. Our synthetic generator fills those gaps for demonstration, and our evaluation only compares models on the signals each dataset truly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datasets behind the project, and the sandbox rule that governs them: only anonymised, open-source or synthetic data, in line with India’s DPDP Act and with HIPAA. CGMacros from PhysioNet is our main dataset: 45 adults, 15 healthy, 16 with prediabetes and 14 with type 2 diabetes, who wore two continuous glucose monitors and a Fitbit for ten days and logged meals with their macronutrients. It also has baseline lab results. BIG IDEAs gives us a second cohort with a different sensor stack, a Dexcom G6 and an Empatica E4 wristband, which we use as an external check. ShanghaiT2DM adds 100 people with type 2 diabetes, with labs, medications and diet logs, and is optional for us. Finally there is our own synthetic generator, with Indian-profile priors and Indian meals, which we use for the demo, for tests and for what-if checks, never for headline metrics. We return to the licence terms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on one page. On the left, inside a dashed privacy boundary, are the two streams: the static electronic health record and the dynamic wearable stream. Nothing crosses that boundary unless it is anonymised, open or synthetic. Both streams enter a harmonise step that maps everything to one schema on a five-minute grid, converts units to milligrams per decilitre, runs quality checks, and builds features using only past data, so the model can never see the future. The digital twin core has three parts. The patient state is a persistent profile that updates with every new reading. The fusion forecaster reads both streams and produces the risk, the time to crossing, a trajectory with an uncertainty band, and the drivers. The what-if engine re-runs the forecast for a different meal, walk or dinner time. The output is the doctor dashboard, which we show later. A standalone version of this diagram is part of our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core has three components, and each one has a clear job. The patient state is what makes this a twin rather than a one-off model. It holds an embedding of the patient’s record together with a few physiological parameters that we fit for that individual: how strongly and how quickly their glucose responds to a meal, their baseline glucose, and an insulin-sensitivity proxy. It updates with every new reading, and it reports its own sync status, so a doctor can see how fresh and how complete the twin is. The fusion forecaster reads both streams and gives a calibrated probability of crossing 180, an estimate of when, a glucose trajectory with a ten to ninety percent band, and the top drivers in plain English. The what-if engine reuses the forecaster and the patient state to answer questions such as: what if this dinner were earlier, or followed by a walk? It shows the change in the predicted peak and in risk, and it labels every assumption it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are grouped so that we can measure what each stream adds. CGM features describe the glucose level and its momentum: the current value, slopes over 15, 30 and 60 minutes, and rolling mean, standard deviation and coefficient of variation over one, three and six hours. Meal features capture the carbohydrate load and its timing: time since the last meal, and the macronutrients of that meal and of the last two hours. Wearable features cover steps and METs, heart rate against the person’s own resting baseline, and sleep and HRV where a dataset has them. EHR features are the static profile: age, BMI, labs, medications, diagnoses and genetic risk. Finally, twin-state features are the personal physiology parameters fitted from the patient’s own past data only. Because the open datasets differ in what they contain, each dataset declares which groups it provides, and every ablation uses only those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evaluation is where many health-AI projects fall down, so we fixed the protocol before looking at any result. First, the label: positive if glucose exceeds 180 at any point in the next 120 minutes, and we only score moments where glucose is below 180 now and at least 80 percent of readings in the window are present. Second, no leakage. Features use only past data, and every scaler, imputer, threshold and calibrator is fit on training patients only. We test this by perturbing the future and checking that the features do not change. Third, splits are by patient: leave-one-patient-out on the small cohorts, grouped five-fold when a dataset has more than 60 patients, so no patient is ever in both training and test. Fourth, alerts. Probabilities are calibrated, the threshold is chosen on training patients to meet a target false-alert rate, and a 60-minute cooldown prevents repeated warnings. Fifth, metrics, each with a 95 percent confidence interval from a bootstrap over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after your real-data run, then delete the Pending tag.] These four numbers come straight from results/metrics.json, produced by the evaluation code and never typed by hand. Read them in this order. First, PR-AUC against the prevalence line: say what fraction of moments are positive and how far above that the model sits, with the confidence interval. Second, sensitivity at the fixed false-alert rate: of the excursions, how many does the alert catch when we allow only this many false alerts per patient-day. Third, the median lead time: how many minutes of warning a clinician or patient gets. Fourth, events detected: the share of real excursions that had an alert between 15 and 120 minutes beforehand. Be candid about the size of the cohort and the width of the intervals. If a number is modest, say so. The contribution is a transparent, reproducible pipeline and an honest evaluation, not a record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after your real-data run, then delete the Pending tag.] This table is the evidence for the central requirement of the challenge: that fusing the two data streams helps. Every row uses the same patient-wise splits, and every model past B0 is the same LightGBM learner, so the only thing that changes is the data it sees. B0 is a simple trend extrapolation of the last 30 minutes, the baseline any model has to beat. B1 uses glucose alone. B2 adds meals. B3 adds the dynamic wearable stream. B4 adds the static health record instead. B5 combines everything, and B6 adds the twin-state features fitted from the patient’s own history. Read the table honestly. Say which additions helped, by how much, and whether the confidence intervals overlap. If an addition did not help on this cohort, say that too, and what you think the reason is. [Note: use only the groups each dataset actually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after your real-data run, then delete the Pending tag.] Two questions here. First, are the probabilities trustworthy? The calibration curve on the left compares predicted probability with how often excursions actually happened. A curve near the diagonal means a 30 percent warning really is about 30 percent. We calibrate on training patients only. Second, does the alert work as an alert? On the right are the event-level numbers, which matter more to a clinician than AUC: how many real excursions were caught with a warning 15 to 120 minutes ahead, how many false alerts a patient would see per day, and the median lead time. State the false-alert budget you chose and why, and mention the 60-minute cooldown that stops repeated warnings. If detection differs between groups, such as healthy participants, people with prediabetes and people with type 2 diabetes, show the per-cohort breakdown from results/metrics.json and say what it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after your real-data run, then delete the Pending tag.] A doctor will not act on a probability alone, so each alert comes with reasons. The figure on the left is the SHAP summary: across all predictions, which features push risk up or down, and by how much. Point out two or three that make clinical sense, such as recent carbohydrate load, the current glucose slope, or the time since the last meal. If the top feature is something odd, say so, and say what you checked. On the right is how the same information appears for one patient: a plain-English sentence generated from the top SHAP drivers, with the actual values filled in. It reads the same way in the dashboard risk card. One caution to state out loud: this explains the model, not the physiology. A driver tells you what the model used, not what caused the spike.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what-if engine is where the twin becomes useful in the consultation. A doctor can ask three kinds of question: what if the next meal were different, what if the patient took a short walk afterwards, what if dinner were earlier? The engine re-runs the forecast and shows the counterfactual curve, the change in the predicted peak, the change in risk, and a wider uncertainty band, because we are adding assumptions on top of the model. We want to be careful about what this is. The baseline forecast is learned from data, but the effect of an intervention is a mechanistic adjustment computed from the patient’s fitted parameters and an effect size stored in a configuration file. Every effect carries a label: illustrative default, fitted from data, or literature to be verified. The dashboard shows that label. So this is a simulation under stated assumptions, not a causal estimate. On synthetic patients, where we know the ground truth because we generated it, we compare the predicted effects with the true ones and report the error. [Read it from results/whatif_synthetic.json and replace the bracket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doctor dashboard. It is a wireframe: it shows the layout and what each panel is for, and the values are placeholders. Our working prototype is built in Streamlit and follows the same six panels. Panel 1 is the patient header, with twin sync status, data completeness and model version, so a doctor knows how much to trust what follows. Panel 2 shows the glucose trace with the two-hour forecast band and the 180 line, driven by a replay slider that streams recorded data as if it were live. Panel 3 is the risk card: probability, estimated time to crossing and the top drivers in plain English. Panel 4 shows the record: diagnoses, labs, medications and genetic risk. Panel 5 is the what-if panel, with the assumption label always visible. Panel 6 is a 14-day ambulatory glucose profile with time in range, time above 180, time below 70, mean glucose, GMI and coefficient of variation, a format diabetologists already read. Synthetic patients carry a visible SYNTHETIC banner, and the footer states that this is a research prototype. [Add your own screenshots of the running app on the next slide or in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clinician would use the twin in a consultation or a ward round. First, open the patient. The twin loads the health record and the latest wearable data, and shows how fresh that data is. Second, review the risk: the chance of crossing 180 milligrams per decilitre in the next two hours, the estimated time to crossing, and the forecast band. Third, inspect the drivers, so the alert arrives with reasons in plain English and not just a number. Fourth, ask what if: swap the next meal, add a walk or move dinner, and see the effect with its assumption label visible. Fifth, record the plan. In our prototype that last step is a note on screen. Writing it back into the electronic health record is future work, and we say so. In the demo the app runs in replay mode: it streams recorded data as if it were live, and synthetic patients carry a clear SYNTHETIC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slide. Data. Our main dataset has 45 adults, so confidence intervals are wide and results for each subgroup are only indicative. It was recruited in Santa Barbara, California, so Indian diets, medicines and sensors may behave differently, and we have not tested on Indian patients. Our synthetic generator checks that the machinery works; it tells us nothing about accuracy on real people, so we never quote headline metrics from it. Model. What-if answers are simulations under labelled assumptions, not causal estimates. Alerts must be rare enough to be trusted, so we set a false-alert budget on training patients and add a sixty-minute cooldown. That costs some sensitivity, and we report it. Use. This is a research prototype on anonymised and synthetic data, in line with the DPDP Act and HIPAA. It is not a medical device and it gives no clinical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is what you have seen: a proof of concept on open and synthetic data. Next is validation, and it matters most. We want to test on consented, ethics-approved data from Indian clinics, add an Indian food database so meals are described in local terms, and bring in richer sleep and heart-rate variability features. Later, the same core of patient state, forecaster and what-if engine could serve other conditions, such as hypertension and cardiovascular risk. It could connect to hospital systems through FHIR, and be tested in a prospective study with clinicians. We list these as plans, not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Licences matter because the brief asks for open-source details. Our own code is released under the MIT licence. [Confirm this with your team before you submit, then remove the bracket.] CGMacros is released under CC BY-NC-SA 4.0: attribution, non-commercial use and share-alike. We cite it, we do not redistribute the raw files, and the README tells people to download it from PhysioNet. Whether trained model weights count as an adaptation under that licence is a question for the licence text, so if you publish weights, check the terms first. BIG IDEAs is released under the Open Data Commons Attribution licence, version 1.0, so we credit it. For ShanghaiT2DM, a survey of open glucose datasets notes that the GitHub and Figshare release has no associated licence, so the reuse terms are unclear. It is marked verify, and we would use it only if the authors confirm the terms. Python packages keep their own licences, which we list with pip-licenses. On reproducibility: one command, python -m dtwin demo, runs the demo on a bundled synthetic sample, with fixed random seeds and pinned dependencies. The repository holds four deliverables: the README, the architecture diagram, this presentation and the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Our work in three sentences. A twin that joins a patient’s record with their wearable stream. A forecast of glucose excursions two hours ahead, with reasons a doctor can read. And an evaluation that is honest about its limits. Everything is in our public repository: the code, the README with the licences, the architecture diagram, this presentation and the video. We are happy to take questions. [Fill in the team names, roles, mentor and repository link before you present, and remove any card you do not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029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0081"/>
            <a:ext cx="10566400" cy="4135119"/>
          </a:xfrm>
          <a:prstGeom prst="rect">
            <a:avLst/>
          </a:prstGeom>
          <a:noFill/>
          <a:ln/>
        </p:spPr>
        <p:txBody>
          <a:bodyPr wrap="square" lIns="0" tIns="0" rIns="0" bIns="0" rtlCol="0" anchor="t"/>
          <a:lstStyle>
            <a:lvl1pPr algn="l" indent="0" marL="0">
              <a:lnSpc>
                <a:spcPct val="140000"/>
              </a:lnSpc>
              <a:buNone/>
              <a:defRPr lang="en-US" sz="1600" dirty="0">
                <a:solidFill>
                  <a:srgbClr val="1029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0292E"/>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10081"/>
            <a:ext cx="10566400" cy="4135119"/>
          </a:xfrm>
          <a:prstGeom prst="rect">
            <a:avLst/>
          </a:prstGeom>
          <a:noFill/>
          <a:ln/>
        </p:spPr>
        <p:txBody>
          <a:bodyPr wrap="square" lIns="0" tIns="0" rIns="0" bIns="0" rtlCol="0" anchor="t"/>
          <a:lstStyle>
            <a:lvl1pPr algn="l" indent="0" marL="0">
              <a:lnSpc>
                <a:spcPct val="140000"/>
              </a:lnSpc>
              <a:buNone/>
              <a:defRPr lang="en-US" sz="1600" dirty="0">
                <a:solidFill>
                  <a:srgbClr val="1029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30"/>
        </a:solidFill>
      </p:bgPr>
    </p:bg>
    <p:spTree>
      <p:nvGrpSpPr>
        <p:cNvPr id="1" name=""/>
        <p:cNvGrpSpPr/>
        <p:nvPr/>
      </p:nvGrpSpPr>
      <p:grpSpPr>
        <a:xfrm>
          <a:off x="0" y="0"/>
          <a:ext cx="0" cy="0"/>
          <a:chOff x="0" y="0"/>
          <a:chExt cx="0" cy="0"/>
        </a:xfrm>
      </p:grpSpPr>
      <p:pic>
        <p:nvPicPr>
          <p:cNvPr id="2" name="Image 0" descr="Schematic glucose curve whose two-hour forecast band rises across a dashed 180 mg/dL line">    </p:cNvPr>
          <p:cNvPicPr>
            <a:picLocks noChangeAspect="1"/>
          </p:cNvPicPr>
          <p:nvPr/>
        </p:nvPicPr>
        <p:blipFill>
          <a:blip r:embed="rId1"/>
          <a:srcRect l="0" r="0" t="0" b="0"/>
          <a:stretch/>
        </p:blipFill>
        <p:spPr>
          <a:xfrm>
            <a:off x="6350000" y="3302000"/>
            <a:ext cx="5029200" cy="2540000"/>
          </a:xfrm>
          <a:prstGeom prst="rect">
            <a:avLst/>
          </a:prstGeom>
        </p:spPr>
      </p:pic>
      <p:sp>
        <p:nvSpPr>
          <p:cNvPr id="3" name="Text 0"/>
          <p:cNvSpPr/>
          <p:nvPr/>
        </p:nvSpPr>
        <p:spPr>
          <a:xfrm>
            <a:off x="6400800" y="3848100"/>
            <a:ext cx="14478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F2A65A"/>
                </a:solidFill>
                <a:latin typeface="IBM Plex Sans" pitchFamily="34" charset="0"/>
                <a:ea typeface="IBM Plex Sans" pitchFamily="34" charset="-122"/>
                <a:cs typeface="IBM Plex Sans" pitchFamily="34" charset="-120"/>
              </a:rPr>
              <a:t>180 mg/dL</a:t>
            </a:r>
            <a:endParaRPr lang="en-US" sz="1200" dirty="0"/>
          </a:p>
        </p:txBody>
      </p:sp>
      <p:sp>
        <p:nvSpPr>
          <p:cNvPr id="4" name="Text 1"/>
          <p:cNvSpPr/>
          <p:nvPr/>
        </p:nvSpPr>
        <p:spPr>
          <a:xfrm>
            <a:off x="8674100" y="5626100"/>
            <a:ext cx="431800" cy="20828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A9BFC2"/>
                </a:solidFill>
                <a:latin typeface="IBM Plex Sans" pitchFamily="34" charset="0"/>
                <a:ea typeface="IBM Plex Sans" pitchFamily="34" charset="-122"/>
                <a:cs typeface="IBM Plex Sans" pitchFamily="34" charset="-120"/>
              </a:rPr>
              <a:t>now</a:t>
            </a:r>
            <a:endParaRPr lang="en-US" sz="1200" dirty="0"/>
          </a:p>
        </p:txBody>
      </p:sp>
      <p:sp>
        <p:nvSpPr>
          <p:cNvPr id="5" name="Text 2"/>
          <p:cNvSpPr/>
          <p:nvPr/>
        </p:nvSpPr>
        <p:spPr>
          <a:xfrm>
            <a:off x="9207500" y="5626100"/>
            <a:ext cx="19621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A9BFC2"/>
                </a:solidFill>
                <a:latin typeface="IBM Plex Sans" pitchFamily="34" charset="0"/>
                <a:ea typeface="IBM Plex Sans" pitchFamily="34" charset="-122"/>
                <a:cs typeface="IBM Plex Sans" pitchFamily="34" charset="-120"/>
              </a:rPr>
              <a:t>next 2 hours</a:t>
            </a:r>
            <a:endParaRPr lang="en-US" sz="1200" dirty="0"/>
          </a:p>
        </p:txBody>
      </p:sp>
      <p:sp>
        <p:nvSpPr>
          <p:cNvPr id="6" name="Text 3"/>
          <p:cNvSpPr/>
          <p:nvPr/>
        </p:nvSpPr>
        <p:spPr>
          <a:xfrm>
            <a:off x="812800" y="812800"/>
            <a:ext cx="98107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BD3"/>
                </a:solidFill>
                <a:latin typeface="IBM Plex Sans" pitchFamily="34" charset="0"/>
                <a:ea typeface="IBM Plex Sans" pitchFamily="34" charset="-122"/>
                <a:cs typeface="IBM Plex Sans" pitchFamily="34" charset="-120"/>
              </a:rPr>
              <a:t>DIGITAL TWIN IN HEALTHCARE · PHASE 1 PROTOTYPE</a:t>
            </a:r>
            <a:endParaRPr lang="en-US" sz="1200" dirty="0"/>
          </a:p>
        </p:txBody>
      </p:sp>
      <p:sp>
        <p:nvSpPr>
          <p:cNvPr id="7" name="Text 4"/>
          <p:cNvSpPr/>
          <p:nvPr>
            <p:ph type="title"/>
          </p:nvPr>
        </p:nvSpPr>
        <p:spPr>
          <a:xfrm>
            <a:off x="812800" y="1178560"/>
            <a:ext cx="9810750" cy="77216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5F3EC"/>
                </a:solidFill>
                <a:latin typeface="Source Serif 4" pitchFamily="18" charset="0"/>
                <a:ea typeface="Source Serif 4" pitchFamily="18" charset="-122"/>
                <a:cs typeface="Source Serif 4" pitchFamily="18" charset="-120"/>
              </a:rPr>
              <a:t>Glucose Digital Twin</a:t>
            </a:r>
            <a:endParaRPr lang="en-US" sz="5600" dirty="0"/>
          </a:p>
        </p:txBody>
      </p:sp>
      <p:sp>
        <p:nvSpPr>
          <p:cNvPr id="8" name="Text 5"/>
          <p:cNvSpPr/>
          <p:nvPr/>
        </p:nvSpPr>
        <p:spPr>
          <a:xfrm>
            <a:off x="812800" y="2077720"/>
            <a:ext cx="5886450" cy="111506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BFC2"/>
                </a:solidFill>
                <a:latin typeface="IBM Plex Sans" pitchFamily="34" charset="0"/>
                <a:ea typeface="IBM Plex Sans" pitchFamily="34" charset="-122"/>
                <a:cs typeface="IBM Plex Sans" pitchFamily="34" charset="-120"/>
              </a:rPr>
              <a:t>Predicting glucose excursions two hours ahead for Indian adults with prediabetes and type 2 diabetes</a:t>
            </a:r>
            <a:endParaRPr lang="en-US" sz="2200" dirty="0"/>
          </a:p>
        </p:txBody>
      </p:sp>
      <p:sp>
        <p:nvSpPr>
          <p:cNvPr id="9" name="Text 6"/>
          <p:cNvSpPr/>
          <p:nvPr/>
        </p:nvSpPr>
        <p:spPr>
          <a:xfrm>
            <a:off x="812800" y="5313680"/>
            <a:ext cx="5624830"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2A65A"/>
                </a:solidFill>
                <a:latin typeface="IBM Plex Sans" pitchFamily="34" charset="0"/>
                <a:ea typeface="IBM Plex Sans" pitchFamily="34" charset="-122"/>
                <a:cs typeface="IBM Plex Sans" pitchFamily="34" charset="-120"/>
              </a:rPr>
              <a:t>[Team name] · [College or incubator]</a:t>
            </a:r>
            <a:endParaRPr lang="en-US" sz="1600" dirty="0"/>
          </a:p>
        </p:txBody>
      </p:sp>
      <p:sp>
        <p:nvSpPr>
          <p:cNvPr id="10" name="Text 7"/>
          <p:cNvSpPr/>
          <p:nvPr/>
        </p:nvSpPr>
        <p:spPr>
          <a:xfrm>
            <a:off x="812800" y="5628640"/>
            <a:ext cx="56248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FC2"/>
                </a:solidFill>
                <a:latin typeface="IBM Plex Sans" pitchFamily="34" charset="0"/>
                <a:ea typeface="IBM Plex Sans" pitchFamily="34" charset="-122"/>
                <a:cs typeface="IBM Plex Sans" pitchFamily="34" charset="-120"/>
              </a:rPr>
              <a:t>Proof of concept: a patient’s record and wearable data fused in one model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PROBLEM</a:t>
            </a:r>
            <a:endParaRPr lang="en-US" sz="1200" dirty="0"/>
          </a:p>
        </p:txBody>
      </p:sp>
      <p:sp>
        <p:nvSpPr>
          <p:cNvPr id="3" name="Text 1"/>
          <p:cNvSpPr/>
          <p:nvPr>
            <p:ph type="title"/>
          </p:nvPr>
        </p:nvSpPr>
        <p:spPr>
          <a:xfrm>
            <a:off x="812800" y="11023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India’s diabetes burden</a:t>
            </a:r>
            <a:endParaRPr lang="en-US" sz="3600" dirty="0"/>
          </a:p>
        </p:txBody>
      </p:sp>
      <p:sp>
        <p:nvSpPr>
          <p:cNvPr id="4" name="Shape 2"/>
          <p:cNvSpPr/>
          <p:nvPr/>
        </p:nvSpPr>
        <p:spPr>
          <a:xfrm>
            <a:off x="815975" y="1913255"/>
            <a:ext cx="3380264" cy="2320290"/>
          </a:xfrm>
          <a:prstGeom prst="roundRect">
            <a:avLst>
              <a:gd name="adj" fmla="val 4242"/>
            </a:avLst>
          </a:prstGeom>
          <a:solidFill>
            <a:srgbClr val="FCFBF8"/>
          </a:solidFill>
          <a:ln w="6350">
            <a:solidFill>
              <a:srgbClr val="D5D8CF"/>
            </a:solidFill>
            <a:prstDash val="solid"/>
          </a:ln>
        </p:spPr>
      </p:sp>
      <p:sp>
        <p:nvSpPr>
          <p:cNvPr id="5" name="Text 3"/>
          <p:cNvSpPr/>
          <p:nvPr/>
        </p:nvSpPr>
        <p:spPr>
          <a:xfrm>
            <a:off x="1071880" y="2192020"/>
            <a:ext cx="10066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E71"/>
                </a:solidFill>
                <a:latin typeface="IBM Plex Sans" pitchFamily="34" charset="0"/>
                <a:ea typeface="IBM Plex Sans" pitchFamily="34" charset="-122"/>
                <a:cs typeface="IBM Plex Sans" pitchFamily="34" charset="-120"/>
              </a:rPr>
              <a:t>DIABETES</a:t>
            </a:r>
            <a:endParaRPr lang="en-US" sz="1200" dirty="0"/>
          </a:p>
        </p:txBody>
      </p:sp>
      <p:sp>
        <p:nvSpPr>
          <p:cNvPr id="6" name="Text 4"/>
          <p:cNvSpPr/>
          <p:nvPr/>
        </p:nvSpPr>
        <p:spPr>
          <a:xfrm>
            <a:off x="3324066" y="2169160"/>
            <a:ext cx="616268" cy="2590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Focus</a:t>
            </a:r>
            <a:endParaRPr lang="en-US" sz="1200" dirty="0"/>
          </a:p>
        </p:txBody>
      </p:sp>
      <p:sp>
        <p:nvSpPr>
          <p:cNvPr id="7" name="Text 5"/>
          <p:cNvSpPr/>
          <p:nvPr/>
        </p:nvSpPr>
        <p:spPr>
          <a:xfrm>
            <a:off x="1071880" y="2504440"/>
            <a:ext cx="2954507"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0B6E7C"/>
                </a:solidFill>
                <a:latin typeface="Source Serif 4" pitchFamily="18" charset="0"/>
                <a:ea typeface="Source Serif 4" pitchFamily="18" charset="-122"/>
                <a:cs typeface="Source Serif 4" pitchFamily="18" charset="-120"/>
              </a:rPr>
              <a:t>101</a:t>
            </a:r>
            <a:endParaRPr lang="en-US" sz="5600" dirty="0"/>
          </a:p>
        </p:txBody>
      </p:sp>
      <p:sp>
        <p:nvSpPr>
          <p:cNvPr id="8" name="Text 6"/>
          <p:cNvSpPr/>
          <p:nvPr/>
        </p:nvSpPr>
        <p:spPr>
          <a:xfrm>
            <a:off x="1071880" y="3291840"/>
            <a:ext cx="2954507"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0292E"/>
                </a:solidFill>
                <a:latin typeface="IBM Plex Sans" pitchFamily="34" charset="0"/>
                <a:ea typeface="IBM Plex Sans" pitchFamily="34" charset="-122"/>
                <a:cs typeface="IBM Plex Sans" pitchFamily="34" charset="-120"/>
              </a:rPr>
              <a:t>million people</a:t>
            </a:r>
            <a:endParaRPr lang="en-US" sz="2200" dirty="0"/>
          </a:p>
        </p:txBody>
      </p:sp>
      <p:sp>
        <p:nvSpPr>
          <p:cNvPr id="9" name="Text 7"/>
          <p:cNvSpPr/>
          <p:nvPr/>
        </p:nvSpPr>
        <p:spPr>
          <a:xfrm>
            <a:off x="1071880" y="3703320"/>
            <a:ext cx="2954507"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11.4% prevalence</a:t>
            </a:r>
            <a:endParaRPr lang="en-US" sz="1600" dirty="0"/>
          </a:p>
        </p:txBody>
      </p:sp>
      <p:sp>
        <p:nvSpPr>
          <p:cNvPr id="10" name="Shape 8"/>
          <p:cNvSpPr/>
          <p:nvPr/>
        </p:nvSpPr>
        <p:spPr>
          <a:xfrm>
            <a:off x="4405789" y="1913255"/>
            <a:ext cx="3380343" cy="2320290"/>
          </a:xfrm>
          <a:prstGeom prst="roundRect">
            <a:avLst>
              <a:gd name="adj" fmla="val 4242"/>
            </a:avLst>
          </a:prstGeom>
          <a:solidFill>
            <a:srgbClr val="FCFBF8"/>
          </a:solidFill>
          <a:ln w="6350">
            <a:solidFill>
              <a:srgbClr val="D5D8CF"/>
            </a:solidFill>
            <a:prstDash val="solid"/>
          </a:ln>
        </p:spPr>
      </p:sp>
      <p:sp>
        <p:nvSpPr>
          <p:cNvPr id="11" name="Text 9"/>
          <p:cNvSpPr/>
          <p:nvPr/>
        </p:nvSpPr>
        <p:spPr>
          <a:xfrm>
            <a:off x="4661694" y="2192020"/>
            <a:ext cx="140084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E71"/>
                </a:solidFill>
                <a:latin typeface="IBM Plex Sans" pitchFamily="34" charset="0"/>
                <a:ea typeface="IBM Plex Sans" pitchFamily="34" charset="-122"/>
                <a:cs typeface="IBM Plex Sans" pitchFamily="34" charset="-120"/>
              </a:rPr>
              <a:t>PREDIABETES</a:t>
            </a:r>
            <a:endParaRPr lang="en-US" sz="1200" dirty="0"/>
          </a:p>
        </p:txBody>
      </p:sp>
      <p:sp>
        <p:nvSpPr>
          <p:cNvPr id="12" name="Text 10"/>
          <p:cNvSpPr/>
          <p:nvPr/>
        </p:nvSpPr>
        <p:spPr>
          <a:xfrm>
            <a:off x="6913959" y="2169160"/>
            <a:ext cx="616268" cy="2590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Focus</a:t>
            </a:r>
            <a:endParaRPr lang="en-US" sz="1200" dirty="0"/>
          </a:p>
        </p:txBody>
      </p:sp>
      <p:sp>
        <p:nvSpPr>
          <p:cNvPr id="13" name="Text 11"/>
          <p:cNvSpPr/>
          <p:nvPr/>
        </p:nvSpPr>
        <p:spPr>
          <a:xfrm>
            <a:off x="4661694" y="2504440"/>
            <a:ext cx="2954589"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9C4A07"/>
                </a:solidFill>
                <a:latin typeface="Source Serif 4" pitchFamily="18" charset="0"/>
                <a:ea typeface="Source Serif 4" pitchFamily="18" charset="-122"/>
                <a:cs typeface="Source Serif 4" pitchFamily="18" charset="-120"/>
              </a:rPr>
              <a:t>136</a:t>
            </a:r>
            <a:endParaRPr lang="en-US" sz="5600" dirty="0"/>
          </a:p>
        </p:txBody>
      </p:sp>
      <p:sp>
        <p:nvSpPr>
          <p:cNvPr id="14" name="Text 12"/>
          <p:cNvSpPr/>
          <p:nvPr/>
        </p:nvSpPr>
        <p:spPr>
          <a:xfrm>
            <a:off x="4661694" y="3291840"/>
            <a:ext cx="2954589"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0292E"/>
                </a:solidFill>
                <a:latin typeface="IBM Plex Sans" pitchFamily="34" charset="0"/>
                <a:ea typeface="IBM Plex Sans" pitchFamily="34" charset="-122"/>
                <a:cs typeface="IBM Plex Sans" pitchFamily="34" charset="-120"/>
              </a:rPr>
              <a:t>million people</a:t>
            </a:r>
            <a:endParaRPr lang="en-US" sz="2200" dirty="0"/>
          </a:p>
        </p:txBody>
      </p:sp>
      <p:sp>
        <p:nvSpPr>
          <p:cNvPr id="15" name="Text 13"/>
          <p:cNvSpPr/>
          <p:nvPr/>
        </p:nvSpPr>
        <p:spPr>
          <a:xfrm>
            <a:off x="4661694" y="3703320"/>
            <a:ext cx="2954589"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15.3% prevalence</a:t>
            </a:r>
            <a:endParaRPr lang="en-US" sz="1600" dirty="0"/>
          </a:p>
        </p:txBody>
      </p:sp>
      <p:sp>
        <p:nvSpPr>
          <p:cNvPr id="16" name="Shape 14"/>
          <p:cNvSpPr/>
          <p:nvPr/>
        </p:nvSpPr>
        <p:spPr>
          <a:xfrm>
            <a:off x="7995682" y="1913255"/>
            <a:ext cx="3380343" cy="2320290"/>
          </a:xfrm>
          <a:prstGeom prst="roundRect">
            <a:avLst>
              <a:gd name="adj" fmla="val 4242"/>
            </a:avLst>
          </a:prstGeom>
          <a:solidFill>
            <a:srgbClr val="FCFBF8"/>
          </a:solidFill>
          <a:ln w="6350">
            <a:solidFill>
              <a:srgbClr val="D5D8CF"/>
            </a:solidFill>
            <a:prstDash val="solid"/>
          </a:ln>
        </p:spPr>
      </p:sp>
      <p:sp>
        <p:nvSpPr>
          <p:cNvPr id="17" name="Text 15"/>
          <p:cNvSpPr/>
          <p:nvPr/>
        </p:nvSpPr>
        <p:spPr>
          <a:xfrm>
            <a:off x="8251587" y="2192020"/>
            <a:ext cx="157210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E71"/>
                </a:solidFill>
                <a:latin typeface="IBM Plex Sans" pitchFamily="34" charset="0"/>
                <a:ea typeface="IBM Plex Sans" pitchFamily="34" charset="-122"/>
                <a:cs typeface="IBM Plex Sans" pitchFamily="34" charset="-120"/>
              </a:rPr>
              <a:t>HYPERTENSION</a:t>
            </a:r>
            <a:endParaRPr lang="en-US" sz="1200" dirty="0"/>
          </a:p>
        </p:txBody>
      </p:sp>
      <p:sp>
        <p:nvSpPr>
          <p:cNvPr id="18" name="Text 16"/>
          <p:cNvSpPr/>
          <p:nvPr/>
        </p:nvSpPr>
        <p:spPr>
          <a:xfrm>
            <a:off x="10364550" y="2169160"/>
            <a:ext cx="755571" cy="259080"/>
          </a:xfrm>
          <a:prstGeom prst="roundRect">
            <a:avLst>
              <a:gd name="adj" fmla="val 50000"/>
            </a:avLst>
          </a:prstGeom>
          <a:solidFill>
            <a:srgbClr val="E6E3D8"/>
          </a:solidFill>
          <a:ln/>
        </p:spPr>
        <p:txBody>
          <a:bodyPr wrap="none" lIns="0" tIns="0" rIns="0" bIns="0" rtlCol="0" anchor="ctr">
            <a:normAutofit/>
          </a:bodyPr>
          <a:lstStyle/>
          <a:p>
            <a:pPr algn="ctr" indent="0" marL="0">
              <a:lnSpc>
                <a:spcPts val="1440"/>
              </a:lnSpc>
              <a:buNone/>
            </a:pPr>
            <a:r>
              <a:rPr lang="en-US" sz="1200" b="1" dirty="0">
                <a:solidFill>
                  <a:srgbClr val="4A5A5D"/>
                </a:solidFill>
                <a:latin typeface="IBM Plex Sans" pitchFamily="34" charset="0"/>
                <a:ea typeface="IBM Plex Sans" pitchFamily="34" charset="-122"/>
                <a:cs typeface="IBM Plex Sans" pitchFamily="34" charset="-120"/>
              </a:rPr>
              <a:t>Context</a:t>
            </a:r>
            <a:endParaRPr lang="en-US" sz="1200" dirty="0"/>
          </a:p>
        </p:txBody>
      </p:sp>
      <p:sp>
        <p:nvSpPr>
          <p:cNvPr id="19" name="Text 17"/>
          <p:cNvSpPr/>
          <p:nvPr/>
        </p:nvSpPr>
        <p:spPr>
          <a:xfrm>
            <a:off x="8251587" y="2504440"/>
            <a:ext cx="2954589"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5B6E71"/>
                </a:solidFill>
                <a:latin typeface="Source Serif 4" pitchFamily="18" charset="0"/>
                <a:ea typeface="Source Serif 4" pitchFamily="18" charset="-122"/>
                <a:cs typeface="Source Serif 4" pitchFamily="18" charset="-120"/>
              </a:rPr>
              <a:t>315</a:t>
            </a:r>
            <a:endParaRPr lang="en-US" sz="5600" dirty="0"/>
          </a:p>
        </p:txBody>
      </p:sp>
      <p:sp>
        <p:nvSpPr>
          <p:cNvPr id="20" name="Text 18"/>
          <p:cNvSpPr/>
          <p:nvPr/>
        </p:nvSpPr>
        <p:spPr>
          <a:xfrm>
            <a:off x="8251587" y="3291840"/>
            <a:ext cx="2954589"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0292E"/>
                </a:solidFill>
                <a:latin typeface="IBM Plex Sans" pitchFamily="34" charset="0"/>
                <a:ea typeface="IBM Plex Sans" pitchFamily="34" charset="-122"/>
                <a:cs typeface="IBM Plex Sans" pitchFamily="34" charset="-120"/>
              </a:rPr>
              <a:t>million people</a:t>
            </a:r>
            <a:endParaRPr lang="en-US" sz="2200" dirty="0"/>
          </a:p>
        </p:txBody>
      </p:sp>
      <p:sp>
        <p:nvSpPr>
          <p:cNvPr id="21" name="Text 19"/>
          <p:cNvSpPr/>
          <p:nvPr/>
        </p:nvSpPr>
        <p:spPr>
          <a:xfrm>
            <a:off x="8251587" y="3703320"/>
            <a:ext cx="2954589"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35.5% prevalence</a:t>
            </a:r>
            <a:endParaRPr lang="en-US" sz="1600" dirty="0"/>
          </a:p>
        </p:txBody>
      </p:sp>
      <p:sp>
        <p:nvSpPr>
          <p:cNvPr id="22" name="Text 20"/>
          <p:cNvSpPr/>
          <p:nvPr/>
        </p:nvSpPr>
        <p:spPr>
          <a:xfrm>
            <a:off x="812800" y="4541520"/>
            <a:ext cx="85026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Prediabetes is the prevention window: 136 million people sit one step from diabetes.</a:t>
            </a:r>
            <a:endParaRPr lang="en-US" sz="1600" dirty="0"/>
          </a:p>
        </p:txBody>
      </p:sp>
      <p:sp>
        <p:nvSpPr>
          <p:cNvPr id="23" name="Text 21"/>
          <p:cNvSpPr/>
          <p:nvPr/>
        </p:nvSpPr>
        <p:spPr>
          <a:xfrm>
            <a:off x="812800" y="6268720"/>
            <a:ext cx="91567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B6E71"/>
                </a:solidFill>
                <a:latin typeface="IBM Plex Sans" pitchFamily="34" charset="0"/>
                <a:ea typeface="IBM Plex Sans" pitchFamily="34" charset="-122"/>
                <a:cs typeface="IBM Plex Sans" pitchFamily="34" charset="-120"/>
              </a:rPr>
              <a:t>Source: ICMR–INDIAB, Lancet Diabetes &amp; Endocrinology 2023; 113,043 people surveyed.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PROBLEM</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The care gap</a:t>
            </a:r>
            <a:endParaRPr lang="en-US" sz="3600" dirty="0"/>
          </a:p>
        </p:txBody>
      </p:sp>
      <p:sp>
        <p:nvSpPr>
          <p:cNvPr id="4" name="Shape 2"/>
          <p:cNvSpPr/>
          <p:nvPr/>
        </p:nvSpPr>
        <p:spPr>
          <a:xfrm>
            <a:off x="815975" y="1913255"/>
            <a:ext cx="3380264" cy="1746250"/>
          </a:xfrm>
          <a:prstGeom prst="roundRect">
            <a:avLst>
              <a:gd name="adj" fmla="val 5636"/>
            </a:avLst>
          </a:prstGeom>
          <a:solidFill>
            <a:srgbClr val="FCFBF8"/>
          </a:solidFill>
          <a:ln w="6350">
            <a:solidFill>
              <a:srgbClr val="C7D8D4"/>
            </a:solidFill>
            <a:prstDash val="solid"/>
          </a:ln>
        </p:spPr>
      </p:sp>
      <p:sp>
        <p:nvSpPr>
          <p:cNvPr id="5" name="Text 3"/>
          <p:cNvSpPr/>
          <p:nvPr/>
        </p:nvSpPr>
        <p:spPr>
          <a:xfrm>
            <a:off x="1071880" y="2169161"/>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Clinic visit</a:t>
            </a:r>
            <a:endParaRPr lang="en-US" sz="2200" dirty="0"/>
          </a:p>
        </p:txBody>
      </p:sp>
      <p:sp>
        <p:nvSpPr>
          <p:cNvPr id="6" name="Text 4"/>
          <p:cNvSpPr/>
          <p:nvPr/>
        </p:nvSpPr>
        <p:spPr>
          <a:xfrm>
            <a:off x="1071880" y="2580641"/>
            <a:ext cx="2954507"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One reading at one moment. Spikes between visits go unseen.</a:t>
            </a:r>
            <a:endParaRPr lang="en-US" sz="1600" dirty="0"/>
          </a:p>
        </p:txBody>
      </p:sp>
      <p:sp>
        <p:nvSpPr>
          <p:cNvPr id="7" name="Shape 5"/>
          <p:cNvSpPr/>
          <p:nvPr/>
        </p:nvSpPr>
        <p:spPr>
          <a:xfrm>
            <a:off x="4405789" y="1913255"/>
            <a:ext cx="3380343" cy="1746250"/>
          </a:xfrm>
          <a:prstGeom prst="roundRect">
            <a:avLst>
              <a:gd name="adj" fmla="val 5636"/>
            </a:avLst>
          </a:prstGeom>
          <a:solidFill>
            <a:srgbClr val="FCFBF8"/>
          </a:solidFill>
          <a:ln w="6350">
            <a:solidFill>
              <a:srgbClr val="C7D8D4"/>
            </a:solidFill>
            <a:prstDash val="solid"/>
          </a:ln>
        </p:spPr>
      </p:sp>
      <p:sp>
        <p:nvSpPr>
          <p:cNvPr id="8" name="Text 6"/>
          <p:cNvSpPr/>
          <p:nvPr/>
        </p:nvSpPr>
        <p:spPr>
          <a:xfrm>
            <a:off x="4661694" y="2169161"/>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HbA1c</a:t>
            </a:r>
            <a:endParaRPr lang="en-US" sz="2200" dirty="0"/>
          </a:p>
        </p:txBody>
      </p:sp>
      <p:sp>
        <p:nvSpPr>
          <p:cNvPr id="9" name="Text 7"/>
          <p:cNvSpPr/>
          <p:nvPr/>
        </p:nvSpPr>
        <p:spPr>
          <a:xfrm>
            <a:off x="4661694" y="2580641"/>
            <a:ext cx="2954589"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An average over roughly 2 to 3 months. It hides how high and how often glucose spikes.</a:t>
            </a:r>
            <a:endParaRPr lang="en-US" sz="1600" dirty="0"/>
          </a:p>
        </p:txBody>
      </p:sp>
      <p:sp>
        <p:nvSpPr>
          <p:cNvPr id="10" name="Shape 8"/>
          <p:cNvSpPr/>
          <p:nvPr/>
        </p:nvSpPr>
        <p:spPr>
          <a:xfrm>
            <a:off x="7995682" y="1913255"/>
            <a:ext cx="3380343" cy="1746250"/>
          </a:xfrm>
          <a:prstGeom prst="roundRect">
            <a:avLst>
              <a:gd name="adj" fmla="val 5636"/>
            </a:avLst>
          </a:prstGeom>
          <a:solidFill>
            <a:srgbClr val="FCFBF8"/>
          </a:solidFill>
          <a:ln w="6350">
            <a:solidFill>
              <a:srgbClr val="C7D8D4"/>
            </a:solidFill>
            <a:prstDash val="solid"/>
          </a:ln>
        </p:spPr>
      </p:sp>
      <p:sp>
        <p:nvSpPr>
          <p:cNvPr id="11" name="Text 9"/>
          <p:cNvSpPr/>
          <p:nvPr/>
        </p:nvSpPr>
        <p:spPr>
          <a:xfrm>
            <a:off x="8251587" y="2169161"/>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Wearables and CGM</a:t>
            </a:r>
            <a:endParaRPr lang="en-US" sz="2200" dirty="0"/>
          </a:p>
        </p:txBody>
      </p:sp>
      <p:sp>
        <p:nvSpPr>
          <p:cNvPr id="12" name="Text 10"/>
          <p:cNvSpPr/>
          <p:nvPr/>
        </p:nvSpPr>
        <p:spPr>
          <a:xfrm>
            <a:off x="8251587" y="2580641"/>
            <a:ext cx="2954589"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Continuous signals, kept apart from the medical record.</a:t>
            </a:r>
            <a:endParaRPr lang="en-US" sz="1600" dirty="0"/>
          </a:p>
        </p:txBody>
      </p:sp>
      <p:sp>
        <p:nvSpPr>
          <p:cNvPr id="13" name="Shape 11"/>
          <p:cNvSpPr/>
          <p:nvPr/>
        </p:nvSpPr>
        <p:spPr>
          <a:xfrm>
            <a:off x="812800" y="3967480"/>
            <a:ext cx="6350000" cy="1168400"/>
          </a:xfrm>
          <a:prstGeom prst="roundRect">
            <a:avLst>
              <a:gd name="adj" fmla="val 8696"/>
            </a:avLst>
          </a:prstGeom>
          <a:solidFill>
            <a:srgbClr val="0F2B30"/>
          </a:solidFill>
          <a:ln/>
        </p:spPr>
      </p:sp>
      <p:sp>
        <p:nvSpPr>
          <p:cNvPr id="14" name="Text 12"/>
          <p:cNvSpPr/>
          <p:nvPr/>
        </p:nvSpPr>
        <p:spPr>
          <a:xfrm>
            <a:off x="1066800" y="4196080"/>
            <a:ext cx="1656953"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2A65A"/>
                </a:solidFill>
                <a:latin typeface="Source Serif 4" pitchFamily="18" charset="0"/>
                <a:ea typeface="Source Serif 4" pitchFamily="18" charset="-122"/>
                <a:cs typeface="Source Serif 4" pitchFamily="18" charset="-120"/>
              </a:rPr>
              <a:t>&lt;7%</a:t>
            </a:r>
            <a:endParaRPr lang="en-US" sz="5600" dirty="0"/>
          </a:p>
        </p:txBody>
      </p:sp>
      <p:sp>
        <p:nvSpPr>
          <p:cNvPr id="15" name="Text 13"/>
          <p:cNvSpPr/>
          <p:nvPr/>
        </p:nvSpPr>
        <p:spPr>
          <a:xfrm>
            <a:off x="2723753" y="4231641"/>
            <a:ext cx="431059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IBM Plex Sans" pitchFamily="34" charset="0"/>
                <a:ea typeface="IBM Plex Sans" pitchFamily="34" charset="-122"/>
                <a:cs typeface="IBM Plex Sans" pitchFamily="34" charset="-120"/>
              </a:rPr>
              <a:t>of people with self-reported diabetes met combined ABC control: HbA1c, blood pressure and cholesterol targets together (an earlier ICMR–INDIAB analysis)</a:t>
            </a:r>
            <a:endParaRPr lang="en-US" sz="1200" dirty="0"/>
          </a:p>
        </p:txBody>
      </p:sp>
      <p:sp>
        <p:nvSpPr>
          <p:cNvPr id="16" name="Text 14"/>
          <p:cNvSpPr/>
          <p:nvPr/>
        </p:nvSpPr>
        <p:spPr>
          <a:xfrm>
            <a:off x="7467600" y="4027805"/>
            <a:ext cx="4028948" cy="10731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0292E"/>
                </a:solidFill>
                <a:latin typeface="Source Serif 4" pitchFamily="18" charset="0"/>
                <a:ea typeface="Source Serif 4" pitchFamily="18" charset="-122"/>
                <a:cs typeface="Source Serif 4" pitchFamily="18" charset="-120"/>
              </a:rPr>
              <a:t>A digital twin joins the record and the stream in one model of the patient.</a:t>
            </a:r>
            <a:endParaRPr lang="en-US" sz="2200" dirty="0"/>
          </a:p>
        </p:txBody>
      </p:sp>
      <p:sp>
        <p:nvSpPr>
          <p:cNvPr id="17" name="Text 15"/>
          <p:cNvSpPr/>
          <p:nvPr/>
        </p:nvSpPr>
        <p:spPr>
          <a:xfrm>
            <a:off x="812800" y="6268720"/>
            <a:ext cx="91567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B6E71"/>
                </a:solidFill>
                <a:latin typeface="IBM Plex Sans" pitchFamily="34" charset="0"/>
                <a:ea typeface="IBM Plex Sans" pitchFamily="34" charset="-122"/>
                <a:cs typeface="IBM Plex Sans" pitchFamily="34" charset="-120"/>
              </a:rPr>
              <a:t>Source: Natl Med J India 2023;36:137–9, citing an earlier ICMR–INDIAB analysis.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B3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BD3"/>
                </a:solidFill>
                <a:latin typeface="IBM Plex Sans" pitchFamily="34" charset="0"/>
                <a:ea typeface="IBM Plex Sans" pitchFamily="34" charset="-122"/>
                <a:cs typeface="IBM Plex Sans" pitchFamily="34" charset="-120"/>
              </a:rPr>
              <a:t>USE CASE</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C"/>
                </a:solidFill>
                <a:latin typeface="Source Serif 4" pitchFamily="18" charset="0"/>
                <a:ea typeface="Source Serif 4" pitchFamily="18" charset="-122"/>
                <a:cs typeface="Source Serif 4" pitchFamily="18" charset="-120"/>
              </a:rPr>
              <a:t>The prediction target</a:t>
            </a:r>
            <a:endParaRPr lang="en-US" sz="3600" dirty="0"/>
          </a:p>
        </p:txBody>
      </p:sp>
      <p:sp>
        <p:nvSpPr>
          <p:cNvPr id="4" name="Text 2"/>
          <p:cNvSpPr/>
          <p:nvPr/>
        </p:nvSpPr>
        <p:spPr>
          <a:xfrm>
            <a:off x="812800" y="2457450"/>
            <a:ext cx="5624830" cy="111506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5F3EC"/>
                </a:solidFill>
                <a:latin typeface="Source Serif 4" pitchFamily="18" charset="0"/>
                <a:ea typeface="Source Serif 4" pitchFamily="18" charset="-122"/>
                <a:cs typeface="Source Serif 4" pitchFamily="18" charset="-120"/>
              </a:rPr>
              <a:t>For a patient whose glucose is below </a:t>
            </a:r>
            <a:r>
              <a:rPr lang="en-US" sz="2200" dirty="0">
                <a:solidFill>
                  <a:srgbClr val="F2A65A"/>
                </a:solidFill>
                <a:latin typeface="Source Serif 4" pitchFamily="18" charset="0"/>
                <a:ea typeface="Source Serif 4" pitchFamily="18" charset="-122"/>
                <a:cs typeface="Source Serif 4" pitchFamily="18" charset="-120"/>
              </a:rPr>
              <a:t>180 mg/dL</a:t>
            </a:r>
            <a:r>
              <a:rPr lang="en-US" sz="2200" dirty="0">
                <a:solidFill>
                  <a:srgbClr val="F5F3EC"/>
                </a:solidFill>
                <a:latin typeface="Source Serif 4" pitchFamily="18" charset="0"/>
                <a:ea typeface="Source Serif 4" pitchFamily="18" charset="-122"/>
                <a:cs typeface="Source Serif 4" pitchFamily="18" charset="-120"/>
              </a:rPr>
              <a:t> now, will it rise above </a:t>
            </a:r>
            <a:r>
              <a:rPr lang="en-US" sz="2200" dirty="0">
                <a:solidFill>
                  <a:srgbClr val="F2A65A"/>
                </a:solidFill>
                <a:latin typeface="Source Serif 4" pitchFamily="18" charset="0"/>
                <a:ea typeface="Source Serif 4" pitchFamily="18" charset="-122"/>
                <a:cs typeface="Source Serif 4" pitchFamily="18" charset="-120"/>
              </a:rPr>
              <a:t>180 mg/dL</a:t>
            </a:r>
            <a:r>
              <a:rPr lang="en-US" sz="2200" dirty="0">
                <a:solidFill>
                  <a:srgbClr val="F5F3EC"/>
                </a:solidFill>
                <a:latin typeface="Source Serif 4" pitchFamily="18" charset="0"/>
                <a:ea typeface="Source Serif 4" pitchFamily="18" charset="-122"/>
                <a:cs typeface="Source Serif 4" pitchFamily="18" charset="-120"/>
              </a:rPr>
              <a:t> at any point in the next </a:t>
            </a:r>
            <a:r>
              <a:rPr lang="en-US" sz="2200" dirty="0">
                <a:solidFill>
                  <a:srgbClr val="6CCBD3"/>
                </a:solidFill>
                <a:latin typeface="Source Serif 4" pitchFamily="18" charset="0"/>
                <a:ea typeface="Source Serif 4" pitchFamily="18" charset="-122"/>
                <a:cs typeface="Source Serif 4" pitchFamily="18" charset="-120"/>
              </a:rPr>
              <a:t>2 hours</a:t>
            </a:r>
            <a:r>
              <a:rPr lang="en-US" sz="2200" dirty="0">
                <a:solidFill>
                  <a:srgbClr val="F5F3EC"/>
                </a:solidFill>
                <a:latin typeface="Source Serif 4" pitchFamily="18" charset="0"/>
                <a:ea typeface="Source Serif 4" pitchFamily="18" charset="-122"/>
                <a:cs typeface="Source Serif 4" pitchFamily="18" charset="-120"/>
              </a:rPr>
              <a:t>?</a:t>
            </a:r>
            <a:endParaRPr lang="en-US" sz="2200" dirty="0"/>
          </a:p>
        </p:txBody>
      </p:sp>
      <p:pic>
        <p:nvPicPr>
          <p:cNvPr id="5" name="Image 0" descr="Schematic: an alert fires at the current time, and glucose crosses 180 mg/dL later within a two-hour window">    </p:cNvPr>
          <p:cNvPicPr>
            <a:picLocks noChangeAspect="1"/>
          </p:cNvPicPr>
          <p:nvPr/>
        </p:nvPicPr>
        <p:blipFill>
          <a:blip r:embed="rId1"/>
          <a:srcRect l="0" r="0" t="0" b="0"/>
          <a:stretch/>
        </p:blipFill>
        <p:spPr>
          <a:xfrm>
            <a:off x="6680200" y="1859280"/>
            <a:ext cx="4699000" cy="2286000"/>
          </a:xfrm>
          <a:prstGeom prst="rect">
            <a:avLst/>
          </a:prstGeom>
        </p:spPr>
      </p:pic>
      <p:sp>
        <p:nvSpPr>
          <p:cNvPr id="6" name="Text 3"/>
          <p:cNvSpPr/>
          <p:nvPr/>
        </p:nvSpPr>
        <p:spPr>
          <a:xfrm>
            <a:off x="6680200" y="2329180"/>
            <a:ext cx="13208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F2A65A"/>
                </a:solidFill>
                <a:latin typeface="IBM Plex Sans" pitchFamily="34" charset="0"/>
                <a:ea typeface="IBM Plex Sans" pitchFamily="34" charset="-122"/>
                <a:cs typeface="IBM Plex Sans" pitchFamily="34" charset="-120"/>
              </a:rPr>
              <a:t>180 mg/dL</a:t>
            </a:r>
            <a:endParaRPr lang="en-US" sz="1200" dirty="0"/>
          </a:p>
        </p:txBody>
      </p:sp>
      <p:sp>
        <p:nvSpPr>
          <p:cNvPr id="7" name="Text 4"/>
          <p:cNvSpPr/>
          <p:nvPr/>
        </p:nvSpPr>
        <p:spPr>
          <a:xfrm>
            <a:off x="8445500" y="1960880"/>
            <a:ext cx="55880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A9BFC2"/>
                </a:solidFill>
                <a:latin typeface="IBM Plex Sans" pitchFamily="34" charset="0"/>
                <a:ea typeface="IBM Plex Sans" pitchFamily="34" charset="-122"/>
                <a:cs typeface="IBM Plex Sans" pitchFamily="34" charset="-120"/>
              </a:rPr>
              <a:t>now</a:t>
            </a:r>
            <a:endParaRPr lang="en-US" sz="1200" dirty="0"/>
          </a:p>
        </p:txBody>
      </p:sp>
      <p:sp>
        <p:nvSpPr>
          <p:cNvPr id="8" name="Text 5"/>
          <p:cNvSpPr/>
          <p:nvPr/>
        </p:nvSpPr>
        <p:spPr>
          <a:xfrm>
            <a:off x="7708900" y="2786380"/>
            <a:ext cx="5842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F5F3EC"/>
                </a:solidFill>
                <a:latin typeface="IBM Plex Sans" pitchFamily="34" charset="0"/>
                <a:ea typeface="IBM Plex Sans" pitchFamily="34" charset="-122"/>
                <a:cs typeface="IBM Plex Sans" pitchFamily="34" charset="-120"/>
              </a:rPr>
              <a:t>alert</a:t>
            </a:r>
            <a:endParaRPr lang="en-US" sz="1200" dirty="0"/>
          </a:p>
        </p:txBody>
      </p:sp>
      <p:sp>
        <p:nvSpPr>
          <p:cNvPr id="9" name="Text 6"/>
          <p:cNvSpPr/>
          <p:nvPr/>
        </p:nvSpPr>
        <p:spPr>
          <a:xfrm>
            <a:off x="9226550" y="3078480"/>
            <a:ext cx="685800" cy="20828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F5F3EC"/>
                </a:solidFill>
                <a:latin typeface="IBM Plex Sans" pitchFamily="34" charset="0"/>
                <a:ea typeface="IBM Plex Sans" pitchFamily="34" charset="-122"/>
                <a:cs typeface="IBM Plex Sans" pitchFamily="34" charset="-120"/>
              </a:rPr>
              <a:t>event</a:t>
            </a:r>
            <a:endParaRPr lang="en-US" sz="1200" dirty="0"/>
          </a:p>
        </p:txBody>
      </p:sp>
      <p:sp>
        <p:nvSpPr>
          <p:cNvPr id="10" name="Text 7"/>
          <p:cNvSpPr/>
          <p:nvPr/>
        </p:nvSpPr>
        <p:spPr>
          <a:xfrm>
            <a:off x="8369300" y="3878580"/>
            <a:ext cx="1225550" cy="208280"/>
          </a:xfrm>
          <a:prstGeom prst="rect">
            <a:avLst/>
          </a:prstGeom>
          <a:noFill/>
          <a:ln/>
        </p:spPr>
        <p:txBody>
          <a:bodyPr wrap="square" lIns="0" tIns="0" rIns="0" bIns="0" rtlCol="0" anchor="t">
            <a:normAutofit/>
          </a:bodyPr>
          <a:lstStyle/>
          <a:p>
            <a:pPr algn="ctr" indent="0" marL="0">
              <a:lnSpc>
                <a:spcPts val="1440"/>
              </a:lnSpc>
              <a:buNone/>
            </a:pPr>
            <a:r>
              <a:rPr lang="en-US" sz="1200" dirty="0">
                <a:solidFill>
                  <a:srgbClr val="A9BFC2"/>
                </a:solidFill>
                <a:latin typeface="IBM Plex Sans" pitchFamily="34" charset="0"/>
                <a:ea typeface="IBM Plex Sans" pitchFamily="34" charset="-122"/>
                <a:cs typeface="IBM Plex Sans" pitchFamily="34" charset="-120"/>
              </a:rPr>
              <a:t>lead time</a:t>
            </a:r>
            <a:endParaRPr lang="en-US" sz="1200" dirty="0"/>
          </a:p>
        </p:txBody>
      </p:sp>
      <p:sp>
        <p:nvSpPr>
          <p:cNvPr id="11" name="Text 8"/>
          <p:cNvSpPr/>
          <p:nvPr/>
        </p:nvSpPr>
        <p:spPr>
          <a:xfrm>
            <a:off x="9677400" y="3878580"/>
            <a:ext cx="1701800"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A9BFC2"/>
                </a:solidFill>
                <a:latin typeface="IBM Plex Sans" pitchFamily="34" charset="0"/>
                <a:ea typeface="IBM Plex Sans" pitchFamily="34" charset="-122"/>
                <a:cs typeface="IBM Plex Sans" pitchFamily="34" charset="-120"/>
              </a:rPr>
              <a:t>window: 120 min</a:t>
            </a:r>
            <a:endParaRPr lang="en-US" sz="1200" dirty="0"/>
          </a:p>
        </p:txBody>
      </p:sp>
      <p:sp>
        <p:nvSpPr>
          <p:cNvPr id="12" name="Shape 9"/>
          <p:cNvSpPr/>
          <p:nvPr/>
        </p:nvSpPr>
        <p:spPr>
          <a:xfrm>
            <a:off x="815975" y="4402455"/>
            <a:ext cx="3380264" cy="999490"/>
          </a:xfrm>
          <a:prstGeom prst="roundRect">
            <a:avLst>
              <a:gd name="adj" fmla="val 9848"/>
            </a:avLst>
          </a:prstGeom>
          <a:solidFill>
            <a:srgbClr val="16393F"/>
          </a:solidFill>
          <a:ln w="6350">
            <a:solidFill>
              <a:srgbClr val="FFFFFF">
                <a:alpha val="14000"/>
              </a:srgbClr>
            </a:solidFill>
            <a:prstDash val="solid"/>
          </a:ln>
        </p:spPr>
      </p:sp>
      <p:sp>
        <p:nvSpPr>
          <p:cNvPr id="13" name="Text 10"/>
          <p:cNvSpPr/>
          <p:nvPr/>
        </p:nvSpPr>
        <p:spPr>
          <a:xfrm>
            <a:off x="995680" y="4556761"/>
            <a:ext cx="311147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EVENT</a:t>
            </a:r>
            <a:endParaRPr lang="en-US" sz="1200" dirty="0"/>
          </a:p>
        </p:txBody>
      </p:sp>
      <p:sp>
        <p:nvSpPr>
          <p:cNvPr id="14" name="Text 11"/>
          <p:cNvSpPr/>
          <p:nvPr/>
        </p:nvSpPr>
        <p:spPr>
          <a:xfrm>
            <a:off x="995680" y="4820920"/>
            <a:ext cx="31114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IBM Plex Sans" pitchFamily="34" charset="0"/>
                <a:ea typeface="IBM Plex Sans" pitchFamily="34" charset="-122"/>
                <a:cs typeface="IBM Plex Sans" pitchFamily="34" charset="-120"/>
              </a:rPr>
              <a:t>First reading above 180 mg/dL after at least 60 minutes below it.</a:t>
            </a:r>
            <a:endParaRPr lang="en-US" sz="1200" dirty="0"/>
          </a:p>
        </p:txBody>
      </p:sp>
      <p:sp>
        <p:nvSpPr>
          <p:cNvPr id="15" name="Shape 12"/>
          <p:cNvSpPr/>
          <p:nvPr/>
        </p:nvSpPr>
        <p:spPr>
          <a:xfrm>
            <a:off x="4405789" y="4402455"/>
            <a:ext cx="3380343" cy="999490"/>
          </a:xfrm>
          <a:prstGeom prst="roundRect">
            <a:avLst>
              <a:gd name="adj" fmla="val 9848"/>
            </a:avLst>
          </a:prstGeom>
          <a:solidFill>
            <a:srgbClr val="16393F"/>
          </a:solidFill>
          <a:ln w="6350">
            <a:solidFill>
              <a:srgbClr val="FFFFFF">
                <a:alpha val="14000"/>
              </a:srgbClr>
            </a:solidFill>
            <a:prstDash val="solid"/>
          </a:ln>
        </p:spPr>
      </p:sp>
      <p:sp>
        <p:nvSpPr>
          <p:cNvPr id="16" name="Text 13"/>
          <p:cNvSpPr/>
          <p:nvPr/>
        </p:nvSpPr>
        <p:spPr>
          <a:xfrm>
            <a:off x="4585494" y="4556761"/>
            <a:ext cx="311156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ALERT</a:t>
            </a:r>
            <a:endParaRPr lang="en-US" sz="1200" dirty="0"/>
          </a:p>
        </p:txBody>
      </p:sp>
      <p:sp>
        <p:nvSpPr>
          <p:cNvPr id="17" name="Text 14"/>
          <p:cNvSpPr/>
          <p:nvPr/>
        </p:nvSpPr>
        <p:spPr>
          <a:xfrm>
            <a:off x="4585494" y="4820920"/>
            <a:ext cx="31115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IBM Plex Sans" pitchFamily="34" charset="0"/>
                <a:ea typeface="IBM Plex Sans" pitchFamily="34" charset="-122"/>
                <a:cs typeface="IBM Plex Sans" pitchFamily="34" charset="-120"/>
              </a:rPr>
              <a:t>Counts as detected if raised 15 to 120 minutes before the event.</a:t>
            </a:r>
            <a:endParaRPr lang="en-US" sz="1200" dirty="0"/>
          </a:p>
        </p:txBody>
      </p:sp>
      <p:sp>
        <p:nvSpPr>
          <p:cNvPr id="18" name="Shape 15"/>
          <p:cNvSpPr/>
          <p:nvPr/>
        </p:nvSpPr>
        <p:spPr>
          <a:xfrm>
            <a:off x="7995682" y="4402455"/>
            <a:ext cx="3380343" cy="999490"/>
          </a:xfrm>
          <a:prstGeom prst="roundRect">
            <a:avLst>
              <a:gd name="adj" fmla="val 9848"/>
            </a:avLst>
          </a:prstGeom>
          <a:solidFill>
            <a:srgbClr val="16393F"/>
          </a:solidFill>
          <a:ln w="6350">
            <a:solidFill>
              <a:srgbClr val="FFFFFF">
                <a:alpha val="14000"/>
              </a:srgbClr>
            </a:solidFill>
            <a:prstDash val="solid"/>
          </a:ln>
        </p:spPr>
      </p:sp>
      <p:sp>
        <p:nvSpPr>
          <p:cNvPr id="19" name="Text 16"/>
          <p:cNvSpPr/>
          <p:nvPr/>
        </p:nvSpPr>
        <p:spPr>
          <a:xfrm>
            <a:off x="8175387" y="4556761"/>
            <a:ext cx="311156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WHO ACTS</a:t>
            </a:r>
            <a:endParaRPr lang="en-US" sz="1200" dirty="0"/>
          </a:p>
        </p:txBody>
      </p:sp>
      <p:sp>
        <p:nvSpPr>
          <p:cNvPr id="20" name="Text 17"/>
          <p:cNvSpPr/>
          <p:nvPr/>
        </p:nvSpPr>
        <p:spPr>
          <a:xfrm>
            <a:off x="8175387" y="4820920"/>
            <a:ext cx="311156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3EC"/>
                </a:solidFill>
                <a:latin typeface="IBM Plex Sans" pitchFamily="34" charset="0"/>
                <a:ea typeface="IBM Plex Sans" pitchFamily="34" charset="-122"/>
                <a:cs typeface="IBM Plex Sans" pitchFamily="34" charset="-120"/>
              </a:rPr>
              <a:t>The clinician and the patient, through meal, walk or timing choices.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DATA</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Two data streams, one patient</a:t>
            </a:r>
            <a:endParaRPr lang="en-US" sz="3600" dirty="0"/>
          </a:p>
        </p:txBody>
      </p:sp>
      <p:sp>
        <p:nvSpPr>
          <p:cNvPr id="4" name="Shape 2"/>
          <p:cNvSpPr/>
          <p:nvPr/>
        </p:nvSpPr>
        <p:spPr>
          <a:xfrm>
            <a:off x="815975" y="1913257"/>
            <a:ext cx="5175250" cy="2833370"/>
          </a:xfrm>
          <a:prstGeom prst="roundRect">
            <a:avLst>
              <a:gd name="adj" fmla="val 3474"/>
            </a:avLst>
          </a:prstGeom>
          <a:solidFill>
            <a:srgbClr val="FCFBF8"/>
          </a:solidFill>
          <a:ln w="6350">
            <a:solidFill>
              <a:srgbClr val="D5D8CF"/>
            </a:solidFill>
            <a:prstDash val="solid"/>
          </a:ln>
        </p:spPr>
      </p:sp>
      <p:sp>
        <p:nvSpPr>
          <p:cNvPr id="5" name="Text 3"/>
          <p:cNvSpPr/>
          <p:nvPr/>
        </p:nvSpPr>
        <p:spPr>
          <a:xfrm>
            <a:off x="1071880" y="2192021"/>
            <a:ext cx="157210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7C"/>
                </a:solidFill>
                <a:latin typeface="IBM Plex Sans" pitchFamily="34" charset="0"/>
                <a:ea typeface="IBM Plex Sans" pitchFamily="34" charset="-122"/>
                <a:cs typeface="IBM Plex Sans" pitchFamily="34" charset="-120"/>
              </a:rPr>
              <a:t>STATIC STREAM</a:t>
            </a:r>
            <a:endParaRPr lang="en-US" sz="1200" dirty="0"/>
          </a:p>
        </p:txBody>
      </p:sp>
      <p:sp>
        <p:nvSpPr>
          <p:cNvPr id="6" name="Text 4"/>
          <p:cNvSpPr/>
          <p:nvPr/>
        </p:nvSpPr>
        <p:spPr>
          <a:xfrm>
            <a:off x="4456589" y="2169161"/>
            <a:ext cx="1278731" cy="259080"/>
          </a:xfrm>
          <a:prstGeom prst="roundRect">
            <a:avLst>
              <a:gd name="adj" fmla="val 50000"/>
            </a:avLst>
          </a:prstGeom>
          <a:solidFill>
            <a:srgbClr val="E6E3D8"/>
          </a:solidFill>
          <a:ln/>
        </p:spPr>
        <p:txBody>
          <a:bodyPr wrap="none" lIns="0" tIns="0" rIns="0" bIns="0" rtlCol="0" anchor="ctr">
            <a:normAutofit/>
          </a:bodyPr>
          <a:lstStyle/>
          <a:p>
            <a:pPr algn="ctr" indent="0" marL="0">
              <a:lnSpc>
                <a:spcPts val="1440"/>
              </a:lnSpc>
              <a:buNone/>
            </a:pPr>
            <a:r>
              <a:rPr lang="en-US" sz="1200" b="1" dirty="0">
                <a:solidFill>
                  <a:srgbClr val="4A5A5D"/>
                </a:solidFill>
                <a:latin typeface="IBM Plex Sans" pitchFamily="34" charset="0"/>
                <a:ea typeface="IBM Plex Sans" pitchFamily="34" charset="-122"/>
                <a:cs typeface="IBM Plex Sans" pitchFamily="34" charset="-120"/>
              </a:rPr>
              <a:t>changes slowly</a:t>
            </a:r>
            <a:endParaRPr lang="en-US" sz="1200" dirty="0"/>
          </a:p>
        </p:txBody>
      </p:sp>
      <p:sp>
        <p:nvSpPr>
          <p:cNvPr id="7" name="Text 5"/>
          <p:cNvSpPr/>
          <p:nvPr/>
        </p:nvSpPr>
        <p:spPr>
          <a:xfrm>
            <a:off x="1071880" y="2529839"/>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Electronic health record</a:t>
            </a:r>
            <a:endParaRPr lang="en-US" sz="2200" dirty="0"/>
          </a:p>
        </p:txBody>
      </p:sp>
      <p:sp>
        <p:nvSpPr>
          <p:cNvPr id="8" name="Text 6"/>
          <p:cNvSpPr/>
          <p:nvPr/>
        </p:nvSpPr>
        <p:spPr>
          <a:xfrm>
            <a:off x="1129538" y="2966721"/>
            <a:ext cx="4738065" cy="15494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Age, sex and BMI</a:t>
            </a:r>
            <a:endParaRPr lang="en-US" sz="1600" dirty="0"/>
          </a:p>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Past diagnoses and comorbidities</a:t>
            </a:r>
            <a:endParaRPr lang="en-US" sz="1600" dirty="0"/>
          </a:p>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HbA1c, fasting glucose, insulin, lipids</a:t>
            </a:r>
            <a:endParaRPr lang="en-US" sz="1600" dirty="0"/>
          </a:p>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Medications</a:t>
            </a:r>
            <a:endParaRPr lang="en-US" sz="1600" dirty="0"/>
          </a:p>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Genetic markers</a:t>
            </a:r>
            <a:endParaRPr lang="en-US" sz="1600" dirty="0"/>
          </a:p>
        </p:txBody>
      </p:sp>
      <p:sp>
        <p:nvSpPr>
          <p:cNvPr id="9" name="Shape 7"/>
          <p:cNvSpPr/>
          <p:nvPr/>
        </p:nvSpPr>
        <p:spPr>
          <a:xfrm>
            <a:off x="6200775" y="1913257"/>
            <a:ext cx="5175250" cy="2833370"/>
          </a:xfrm>
          <a:prstGeom prst="roundRect">
            <a:avLst>
              <a:gd name="adj" fmla="val 3474"/>
            </a:avLst>
          </a:prstGeom>
          <a:solidFill>
            <a:srgbClr val="FCFBF8"/>
          </a:solidFill>
          <a:ln w="6350">
            <a:solidFill>
              <a:srgbClr val="D5D8CF"/>
            </a:solidFill>
            <a:prstDash val="solid"/>
          </a:ln>
        </p:spPr>
      </p:sp>
      <p:sp>
        <p:nvSpPr>
          <p:cNvPr id="10" name="Text 8"/>
          <p:cNvSpPr/>
          <p:nvPr/>
        </p:nvSpPr>
        <p:spPr>
          <a:xfrm>
            <a:off x="6456680" y="2192021"/>
            <a:ext cx="180679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7C"/>
                </a:solidFill>
                <a:latin typeface="IBM Plex Sans" pitchFamily="34" charset="0"/>
                <a:ea typeface="IBM Plex Sans" pitchFamily="34" charset="-122"/>
                <a:cs typeface="IBM Plex Sans" pitchFamily="34" charset="-120"/>
              </a:rPr>
              <a:t>DYNAMIC STREAM</a:t>
            </a:r>
            <a:endParaRPr lang="en-US" sz="1200" dirty="0"/>
          </a:p>
        </p:txBody>
      </p:sp>
      <p:sp>
        <p:nvSpPr>
          <p:cNvPr id="11" name="Text 9"/>
          <p:cNvSpPr/>
          <p:nvPr/>
        </p:nvSpPr>
        <p:spPr>
          <a:xfrm>
            <a:off x="9323625" y="2169161"/>
            <a:ext cx="1796494" cy="2590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changes by the minute</a:t>
            </a:r>
            <a:endParaRPr lang="en-US" sz="1200" dirty="0"/>
          </a:p>
        </p:txBody>
      </p:sp>
      <p:sp>
        <p:nvSpPr>
          <p:cNvPr id="12" name="Text 10"/>
          <p:cNvSpPr/>
          <p:nvPr/>
        </p:nvSpPr>
        <p:spPr>
          <a:xfrm>
            <a:off x="6456680" y="2529839"/>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Wearables and IoT sensors</a:t>
            </a:r>
            <a:endParaRPr lang="en-US" sz="2200" dirty="0"/>
          </a:p>
        </p:txBody>
      </p:sp>
      <p:sp>
        <p:nvSpPr>
          <p:cNvPr id="13" name="Text 11"/>
          <p:cNvSpPr/>
          <p:nvPr/>
        </p:nvSpPr>
        <p:spPr>
          <a:xfrm>
            <a:off x="6514338" y="2966721"/>
            <a:ext cx="4738065" cy="1549400"/>
          </a:xfrm>
          <a:prstGeom prst="rect">
            <a:avLst/>
          </a:prstGeom>
          <a:noFill/>
          <a:ln/>
        </p:spPr>
        <p:txBody>
          <a:bodyPr wrap="square" lIns="0" tIns="0" rIns="0" bIns="0" rtlCol="0" anchor="t">
            <a:normAutofit/>
          </a:bodyPr>
          <a:lstStyle/>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CGM glucose</a:t>
            </a:r>
            <a:endParaRPr lang="en-US" sz="1600" dirty="0"/>
          </a:p>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Heart rate</a:t>
            </a:r>
            <a:endParaRPr lang="en-US" sz="1600" dirty="0"/>
          </a:p>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Steps and activity</a:t>
            </a:r>
            <a:endParaRPr lang="en-US" sz="1600" dirty="0"/>
          </a:p>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Sleep stages and HRV</a:t>
            </a:r>
            <a:endParaRPr lang="en-US" sz="1600" dirty="0"/>
          </a:p>
          <a:p>
            <a:pPr algn="l" marL="196342" indent="-196342">
              <a:lnSpc>
                <a:spcPts val="2400"/>
              </a:lnSpc>
              <a:buSzPct val="100000"/>
              <a:buChar char="•"/>
            </a:pPr>
            <a:r>
              <a:rPr lang="en-US" sz="1600" dirty="0">
                <a:solidFill>
                  <a:srgbClr val="34484C"/>
                </a:solidFill>
                <a:latin typeface="IBM Plex Sans" pitchFamily="34" charset="0"/>
                <a:ea typeface="IBM Plex Sans" pitchFamily="34" charset="-122"/>
                <a:cs typeface="IBM Plex Sans" pitchFamily="34" charset="-120"/>
              </a:rPr>
              <a:t>Meal logs and macros</a:t>
            </a:r>
            <a:endParaRPr lang="en-US" sz="1600" dirty="0"/>
          </a:p>
        </p:txBody>
      </p:sp>
      <p:sp>
        <p:nvSpPr>
          <p:cNvPr id="14" name="Text 12"/>
          <p:cNvSpPr/>
          <p:nvPr/>
        </p:nvSpPr>
        <p:spPr>
          <a:xfrm>
            <a:off x="812800" y="5054600"/>
            <a:ext cx="10566400" cy="690880"/>
          </a:xfrm>
          <a:prstGeom prst="roundRect">
            <a:avLst>
              <a:gd name="adj" fmla="val 14706"/>
            </a:avLst>
          </a:prstGeom>
          <a:solidFill>
            <a:srgbClr val="0F2B30"/>
          </a:solidFill>
          <a:ln/>
        </p:spPr>
        <p:txBody>
          <a:bodyPr wrap="square" lIns="224242" tIns="135342" rIns="224242" bIns="135342" rtlCol="0" anchor="ctr">
            <a:normAutofit/>
          </a:bodyPr>
          <a:lstStyle/>
          <a:p>
            <a:pPr algn="l" indent="0" marL="0">
              <a:lnSpc>
                <a:spcPts val="2640"/>
              </a:lnSpc>
              <a:buNone/>
            </a:pPr>
            <a:r>
              <a:rPr lang="en-US" sz="2200" dirty="0">
                <a:solidFill>
                  <a:srgbClr val="F5F3EC"/>
                </a:solidFill>
                <a:latin typeface="Source Serif 4" pitchFamily="18" charset="0"/>
                <a:ea typeface="Source Serif 4" pitchFamily="18" charset="-122"/>
                <a:cs typeface="Source Serif 4" pitchFamily="18" charset="-120"/>
              </a:rPr>
              <a:t>Every prediction uses </a:t>
            </a:r>
            <a:r>
              <a:rPr lang="en-US" sz="2200" dirty="0">
                <a:solidFill>
                  <a:srgbClr val="F2A65A"/>
                </a:solidFill>
                <a:latin typeface="Source Serif 4" pitchFamily="18" charset="0"/>
                <a:ea typeface="Source Serif 4" pitchFamily="18" charset="-122"/>
                <a:cs typeface="Source Serif 4" pitchFamily="18" charset="-120"/>
              </a:rPr>
              <a:t>both</a:t>
            </a:r>
            <a:r>
              <a:rPr lang="en-US" sz="2200" dirty="0">
                <a:solidFill>
                  <a:srgbClr val="F5F3EC"/>
                </a:solidFill>
                <a:latin typeface="Source Serif 4" pitchFamily="18" charset="0"/>
                <a:ea typeface="Source Serif 4" pitchFamily="18" charset="-122"/>
                <a:cs typeface="Source Serif 4" pitchFamily="18" charset="-120"/>
              </a:rPr>
              <a:t> streams.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DATA</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Open datasets and the sandbox</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9442"/>
          <a:ext cx="10556240" cy="2291080"/>
        </p:xfrm>
        <a:graphic>
          <a:graphicData uri="http://schemas.openxmlformats.org/drawingml/2006/table">
            <a:tbl>
              <a:tblPr/>
              <a:tblGrid>
                <a:gridCol w="1794561"/>
                <a:gridCol w="2639060"/>
                <a:gridCol w="4011371"/>
                <a:gridCol w="2111248"/>
              </a:tblGrid>
              <a:tr h="330200">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Dataset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People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Signals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Role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r>
              <a:tr h="54356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CGMacros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45 adults: 15 healthy, 16 prediabetes, 14 type 2 diabetes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Dexcom and Libre CGMs, Fitbit heart rate and METs, meal macros, baseline labs; 10 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Main training and evaluation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54356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BIG IDEAs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16 participants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Dexcom G6 CGM, Empatica E4 wristband, food logs; 8–10 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External check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ShanghaiT2DM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100 people with type 2 diabetes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CGM, diet logs, labs, medications; 3–14 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Optional T2D cohort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54356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Synthetic generator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Virtual patients with Indian-profile priors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EHR, CGM, heart rate, steps, sleep, HRV, Indian meals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Demo, tests, what-if checks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5" name="Text 2"/>
          <p:cNvSpPr/>
          <p:nvPr/>
        </p:nvSpPr>
        <p:spPr>
          <a:xfrm>
            <a:off x="812800" y="44145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Sandbox rule: only anonymised, open-source or synthetic data are used (DPDP Act, HIPAA).</a:t>
            </a:r>
            <a:endParaRPr lang="en-US" sz="1200" dirty="0"/>
          </a:p>
        </p:txBody>
      </p:sp>
      <p:sp>
        <p:nvSpPr>
          <p:cNvPr id="6" name="Text 3"/>
          <p:cNvSpPr/>
          <p:nvPr/>
        </p:nvSpPr>
        <p:spPr>
          <a:xfrm>
            <a:off x="812800" y="6268721"/>
            <a:ext cx="9810750"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B6E71"/>
                </a:solidFill>
                <a:latin typeface="IBM Plex Sans" pitchFamily="34" charset="0"/>
                <a:ea typeface="IBM Plex Sans" pitchFamily="34" charset="-122"/>
                <a:cs typeface="IBM Plex Sans" pitchFamily="34" charset="-120"/>
              </a:rPr>
              <a:t>Sources: PhysioNet (CGMacros v1.0.0; BIG IDEAs v1.1.3); Zhao et al., Scientific Data 2023 (ShanghaiT2DM).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BUILD</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System architecture</a:t>
            </a:r>
            <a:endParaRPr lang="en-US" sz="3600" dirty="0"/>
          </a:p>
        </p:txBody>
      </p:sp>
      <p:sp>
        <p:nvSpPr>
          <p:cNvPr id="4" name="Shape 2"/>
          <p:cNvSpPr/>
          <p:nvPr/>
        </p:nvSpPr>
        <p:spPr>
          <a:xfrm>
            <a:off x="819150" y="1865632"/>
            <a:ext cx="2527300" cy="3797300"/>
          </a:xfrm>
          <a:prstGeom prst="roundRect">
            <a:avLst>
              <a:gd name="adj" fmla="val 3769"/>
            </a:avLst>
          </a:prstGeom>
          <a:noFill/>
          <a:ln w="12700">
            <a:solidFill>
              <a:srgbClr val="0B6E7C"/>
            </a:solidFill>
            <a:prstDash val="dash"/>
          </a:ln>
        </p:spPr>
      </p:sp>
      <p:sp>
        <p:nvSpPr>
          <p:cNvPr id="5" name="Text 3"/>
          <p:cNvSpPr/>
          <p:nvPr/>
        </p:nvSpPr>
        <p:spPr>
          <a:xfrm>
            <a:off x="965200" y="1948182"/>
            <a:ext cx="2302256"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6E7C"/>
                </a:solidFill>
                <a:latin typeface="IBM Plex Sans" pitchFamily="34" charset="0"/>
                <a:ea typeface="IBM Plex Sans" pitchFamily="34" charset="-122"/>
                <a:cs typeface="IBM Plex Sans" pitchFamily="34" charset="-120"/>
              </a:rPr>
              <a:t>Privacy boundary</a:t>
            </a:r>
            <a:endParaRPr lang="en-US" sz="1200" dirty="0"/>
          </a:p>
          <a:p>
            <a:pPr algn="l" indent="0" marL="0">
              <a:lnSpc>
                <a:spcPts val="1680"/>
              </a:lnSpc>
              <a:buNone/>
            </a:pPr>
            <a:r>
              <a:rPr lang="en-US" sz="1200" dirty="0">
                <a:solidFill>
                  <a:srgbClr val="0B6E7C"/>
                </a:solidFill>
                <a:latin typeface="IBM Plex Sans" pitchFamily="34" charset="0"/>
                <a:ea typeface="IBM Plex Sans" pitchFamily="34" charset="-122"/>
                <a:cs typeface="IBM Plex Sans" pitchFamily="34" charset="-120"/>
              </a:rPr>
              <a:t>Only anonymised, open or synthetic data</a:t>
            </a:r>
            <a:endParaRPr lang="en-US" sz="1200" dirty="0"/>
          </a:p>
        </p:txBody>
      </p:sp>
      <p:sp>
        <p:nvSpPr>
          <p:cNvPr id="6" name="Shape 4"/>
          <p:cNvSpPr/>
          <p:nvPr/>
        </p:nvSpPr>
        <p:spPr>
          <a:xfrm>
            <a:off x="968375" y="2675257"/>
            <a:ext cx="2228850" cy="1327150"/>
          </a:xfrm>
          <a:prstGeom prst="roundRect">
            <a:avLst>
              <a:gd name="adj" fmla="val 5502"/>
            </a:avLst>
          </a:prstGeom>
          <a:solidFill>
            <a:srgbClr val="FCFBF8"/>
          </a:solidFill>
          <a:ln w="6350">
            <a:solidFill>
              <a:srgbClr val="D5D8CF"/>
            </a:solidFill>
            <a:prstDash val="solid"/>
          </a:ln>
        </p:spPr>
      </p:sp>
      <p:sp>
        <p:nvSpPr>
          <p:cNvPr id="7" name="Text 5"/>
          <p:cNvSpPr/>
          <p:nvPr/>
        </p:nvSpPr>
        <p:spPr>
          <a:xfrm>
            <a:off x="1071880" y="2871471"/>
            <a:ext cx="208249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Static: EHR</a:t>
            </a:r>
            <a:endParaRPr lang="en-US" sz="1600" dirty="0"/>
          </a:p>
        </p:txBody>
      </p:sp>
      <p:sp>
        <p:nvSpPr>
          <p:cNvPr id="8" name="Text 6"/>
          <p:cNvSpPr/>
          <p:nvPr/>
        </p:nvSpPr>
        <p:spPr>
          <a:xfrm>
            <a:off x="1071880" y="3166111"/>
            <a:ext cx="208249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Demographics, diagnoses, labs, medications, genetic markers</a:t>
            </a:r>
            <a:endParaRPr lang="en-US" sz="1200" dirty="0"/>
          </a:p>
        </p:txBody>
      </p:sp>
      <p:sp>
        <p:nvSpPr>
          <p:cNvPr id="9" name="Shape 7"/>
          <p:cNvSpPr/>
          <p:nvPr/>
        </p:nvSpPr>
        <p:spPr>
          <a:xfrm>
            <a:off x="968375" y="4161157"/>
            <a:ext cx="2228850" cy="1327150"/>
          </a:xfrm>
          <a:prstGeom prst="roundRect">
            <a:avLst>
              <a:gd name="adj" fmla="val 5502"/>
            </a:avLst>
          </a:prstGeom>
          <a:solidFill>
            <a:srgbClr val="FCFBF8"/>
          </a:solidFill>
          <a:ln w="6350">
            <a:solidFill>
              <a:srgbClr val="D5D8CF"/>
            </a:solidFill>
            <a:prstDash val="solid"/>
          </a:ln>
        </p:spPr>
      </p:sp>
      <p:sp>
        <p:nvSpPr>
          <p:cNvPr id="10" name="Text 8"/>
          <p:cNvSpPr/>
          <p:nvPr/>
        </p:nvSpPr>
        <p:spPr>
          <a:xfrm>
            <a:off x="1071880" y="4464050"/>
            <a:ext cx="208249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Dynamic: wearables</a:t>
            </a:r>
            <a:endParaRPr lang="en-US" sz="1600" dirty="0"/>
          </a:p>
        </p:txBody>
      </p:sp>
      <p:sp>
        <p:nvSpPr>
          <p:cNvPr id="11" name="Text 9"/>
          <p:cNvSpPr/>
          <p:nvPr/>
        </p:nvSpPr>
        <p:spPr>
          <a:xfrm>
            <a:off x="1071880" y="4758689"/>
            <a:ext cx="20824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CGM, heart rate, steps, sleep, HRV, meal logs</a:t>
            </a:r>
            <a:endParaRPr lang="en-US" sz="1200" dirty="0"/>
          </a:p>
        </p:txBody>
      </p:sp>
      <p:sp>
        <p:nvSpPr>
          <p:cNvPr id="12" name="Shape 10"/>
          <p:cNvSpPr/>
          <p:nvPr/>
        </p:nvSpPr>
        <p:spPr>
          <a:xfrm>
            <a:off x="3863975" y="2675257"/>
            <a:ext cx="1898650" cy="2813050"/>
          </a:xfrm>
          <a:prstGeom prst="roundRect">
            <a:avLst>
              <a:gd name="adj" fmla="val 3846"/>
            </a:avLst>
          </a:prstGeom>
          <a:solidFill>
            <a:srgbClr val="FCFBF8"/>
          </a:solidFill>
          <a:ln w="6350">
            <a:solidFill>
              <a:srgbClr val="D5D8CF"/>
            </a:solidFill>
            <a:prstDash val="solid"/>
          </a:ln>
        </p:spPr>
      </p:sp>
      <p:sp>
        <p:nvSpPr>
          <p:cNvPr id="13" name="Text 11"/>
          <p:cNvSpPr/>
          <p:nvPr/>
        </p:nvSpPr>
        <p:spPr>
          <a:xfrm>
            <a:off x="4018280" y="3337561"/>
            <a:ext cx="16408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Harmonise</a:t>
            </a:r>
            <a:endParaRPr lang="en-US" sz="1600" dirty="0"/>
          </a:p>
        </p:txBody>
      </p:sp>
      <p:sp>
        <p:nvSpPr>
          <p:cNvPr id="14" name="Text 12"/>
          <p:cNvSpPr/>
          <p:nvPr/>
        </p:nvSpPr>
        <p:spPr>
          <a:xfrm>
            <a:off x="4018280" y="3683000"/>
            <a:ext cx="1640840" cy="1168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34484C"/>
                </a:solidFill>
                <a:latin typeface="IBM Plex Sans" pitchFamily="34" charset="0"/>
                <a:ea typeface="IBM Plex Sans" pitchFamily="34" charset="-122"/>
                <a:cs typeface="IBM Plex Sans" pitchFamily="34" charset="-120"/>
              </a:rPr>
              <a:t>Common schema</a:t>
            </a:r>
            <a:endParaRPr lang="en-US" sz="1200" dirty="0"/>
          </a:p>
          <a:p>
            <a:pPr algn="l" indent="0" marL="0">
              <a:lnSpc>
                <a:spcPts val="1800"/>
              </a:lnSpc>
              <a:buNone/>
            </a:pPr>
            <a:r>
              <a:rPr lang="en-US" sz="1200" dirty="0">
                <a:solidFill>
                  <a:srgbClr val="34484C"/>
                </a:solidFill>
                <a:latin typeface="IBM Plex Sans" pitchFamily="34" charset="0"/>
                <a:ea typeface="IBM Plex Sans" pitchFamily="34" charset="-122"/>
                <a:cs typeface="IBM Plex Sans" pitchFamily="34" charset="-120"/>
              </a:rPr>
              <a:t>5-minute grid</a:t>
            </a:r>
            <a:endParaRPr lang="en-US" sz="1200" dirty="0"/>
          </a:p>
          <a:p>
            <a:pPr algn="l" indent="0" marL="0">
              <a:lnSpc>
                <a:spcPts val="1800"/>
              </a:lnSpc>
              <a:buNone/>
            </a:pPr>
            <a:r>
              <a:rPr lang="en-US" sz="1200" dirty="0">
                <a:solidFill>
                  <a:srgbClr val="34484C"/>
                </a:solidFill>
                <a:latin typeface="IBM Plex Sans" pitchFamily="34" charset="0"/>
                <a:ea typeface="IBM Plex Sans" pitchFamily="34" charset="-122"/>
                <a:cs typeface="IBM Plex Sans" pitchFamily="34" charset="-120"/>
              </a:rPr>
              <a:t>mg/dL units</a:t>
            </a:r>
            <a:endParaRPr lang="en-US" sz="1200" dirty="0"/>
          </a:p>
          <a:p>
            <a:pPr algn="l" indent="0" marL="0">
              <a:lnSpc>
                <a:spcPts val="1800"/>
              </a:lnSpc>
              <a:buNone/>
            </a:pPr>
            <a:r>
              <a:rPr lang="en-US" sz="1200" dirty="0">
                <a:solidFill>
                  <a:srgbClr val="34484C"/>
                </a:solidFill>
                <a:latin typeface="IBM Plex Sans" pitchFamily="34" charset="0"/>
                <a:ea typeface="IBM Plex Sans" pitchFamily="34" charset="-122"/>
                <a:cs typeface="IBM Plex Sans" pitchFamily="34" charset="-120"/>
              </a:rPr>
              <a:t>Quality checks</a:t>
            </a:r>
            <a:endParaRPr lang="en-US" sz="1200" dirty="0"/>
          </a:p>
          <a:p>
            <a:pPr algn="l" indent="0" marL="0">
              <a:lnSpc>
                <a:spcPts val="1800"/>
              </a:lnSpc>
              <a:buNone/>
            </a:pPr>
            <a:r>
              <a:rPr lang="en-US" sz="1200" dirty="0">
                <a:solidFill>
                  <a:srgbClr val="34484C"/>
                </a:solidFill>
                <a:latin typeface="IBM Plex Sans" pitchFamily="34" charset="0"/>
                <a:ea typeface="IBM Plex Sans" pitchFamily="34" charset="-122"/>
                <a:cs typeface="IBM Plex Sans" pitchFamily="34" charset="-120"/>
              </a:rPr>
              <a:t>Past-only features</a:t>
            </a:r>
            <a:endParaRPr lang="en-US" sz="1200" dirty="0"/>
          </a:p>
        </p:txBody>
      </p:sp>
      <p:sp>
        <p:nvSpPr>
          <p:cNvPr id="15" name="Shape 13"/>
          <p:cNvSpPr/>
          <p:nvPr/>
        </p:nvSpPr>
        <p:spPr>
          <a:xfrm>
            <a:off x="6210300" y="1859282"/>
            <a:ext cx="3302000" cy="3810000"/>
          </a:xfrm>
          <a:prstGeom prst="roundRect">
            <a:avLst>
              <a:gd name="adj" fmla="val 3077"/>
            </a:avLst>
          </a:prstGeom>
          <a:solidFill>
            <a:srgbClr val="D3E7E6"/>
          </a:solidFill>
          <a:ln/>
        </p:spPr>
      </p:sp>
      <p:sp>
        <p:nvSpPr>
          <p:cNvPr id="16" name="Text 14"/>
          <p:cNvSpPr/>
          <p:nvPr/>
        </p:nvSpPr>
        <p:spPr>
          <a:xfrm>
            <a:off x="6362700" y="1960882"/>
            <a:ext cx="308711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Digital twin core</a:t>
            </a:r>
            <a:endParaRPr lang="en-US" sz="1600" dirty="0"/>
          </a:p>
        </p:txBody>
      </p:sp>
      <p:sp>
        <p:nvSpPr>
          <p:cNvPr id="17" name="Shape 15"/>
          <p:cNvSpPr/>
          <p:nvPr/>
        </p:nvSpPr>
        <p:spPr>
          <a:xfrm>
            <a:off x="6365875" y="2319657"/>
            <a:ext cx="2990850" cy="908050"/>
          </a:xfrm>
          <a:prstGeom prst="roundRect">
            <a:avLst>
              <a:gd name="adj" fmla="val 8042"/>
            </a:avLst>
          </a:prstGeom>
          <a:solidFill>
            <a:srgbClr val="FCFBF8"/>
          </a:solidFill>
          <a:ln w="6350">
            <a:solidFill>
              <a:srgbClr val="B9D3D1"/>
            </a:solidFill>
            <a:prstDash val="solid"/>
          </a:ln>
        </p:spPr>
      </p:sp>
      <p:sp>
        <p:nvSpPr>
          <p:cNvPr id="18" name="Text 16"/>
          <p:cNvSpPr/>
          <p:nvPr/>
        </p:nvSpPr>
        <p:spPr>
          <a:xfrm>
            <a:off x="6520180" y="2426971"/>
            <a:ext cx="27627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Patient state</a:t>
            </a:r>
            <a:endParaRPr lang="en-US" sz="1600" dirty="0"/>
          </a:p>
        </p:txBody>
      </p:sp>
      <p:sp>
        <p:nvSpPr>
          <p:cNvPr id="19" name="Text 17"/>
          <p:cNvSpPr/>
          <p:nvPr/>
        </p:nvSpPr>
        <p:spPr>
          <a:xfrm>
            <a:off x="6520180" y="2708911"/>
            <a:ext cx="2762707"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4484C"/>
                </a:solidFill>
                <a:latin typeface="IBM Plex Sans" pitchFamily="34" charset="0"/>
                <a:ea typeface="IBM Plex Sans" pitchFamily="34" charset="-122"/>
                <a:cs typeface="IBM Plex Sans" pitchFamily="34" charset="-120"/>
              </a:rPr>
              <a:t>EHR embedding plus fitted physiology, updated per reading</a:t>
            </a:r>
            <a:endParaRPr lang="en-US" sz="1200" dirty="0"/>
          </a:p>
        </p:txBody>
      </p:sp>
      <p:sp>
        <p:nvSpPr>
          <p:cNvPr id="20" name="Shape 18"/>
          <p:cNvSpPr/>
          <p:nvPr/>
        </p:nvSpPr>
        <p:spPr>
          <a:xfrm>
            <a:off x="6365875" y="3462657"/>
            <a:ext cx="2990850" cy="908050"/>
          </a:xfrm>
          <a:prstGeom prst="roundRect">
            <a:avLst>
              <a:gd name="adj" fmla="val 8042"/>
            </a:avLst>
          </a:prstGeom>
          <a:solidFill>
            <a:srgbClr val="FCFBF8"/>
          </a:solidFill>
          <a:ln w="6350">
            <a:solidFill>
              <a:srgbClr val="B9D3D1"/>
            </a:solidFill>
            <a:prstDash val="solid"/>
          </a:ln>
        </p:spPr>
      </p:sp>
      <p:sp>
        <p:nvSpPr>
          <p:cNvPr id="21" name="Text 19"/>
          <p:cNvSpPr/>
          <p:nvPr/>
        </p:nvSpPr>
        <p:spPr>
          <a:xfrm>
            <a:off x="6520180" y="3569971"/>
            <a:ext cx="27627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Fusion forecaster</a:t>
            </a:r>
            <a:endParaRPr lang="en-US" sz="1600" dirty="0"/>
          </a:p>
        </p:txBody>
      </p:sp>
      <p:sp>
        <p:nvSpPr>
          <p:cNvPr id="22" name="Text 20"/>
          <p:cNvSpPr/>
          <p:nvPr/>
        </p:nvSpPr>
        <p:spPr>
          <a:xfrm>
            <a:off x="6520180" y="3851911"/>
            <a:ext cx="2762707"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4484C"/>
                </a:solidFill>
                <a:latin typeface="IBM Plex Sans" pitchFamily="34" charset="0"/>
                <a:ea typeface="IBM Plex Sans" pitchFamily="34" charset="-122"/>
                <a:cs typeface="IBM Plex Sans" pitchFamily="34" charset="-120"/>
              </a:rPr>
              <a:t>Risk, time to crossing, trajectory band, drivers</a:t>
            </a:r>
            <a:endParaRPr lang="en-US" sz="1200" dirty="0"/>
          </a:p>
        </p:txBody>
      </p:sp>
      <p:sp>
        <p:nvSpPr>
          <p:cNvPr id="23" name="Shape 21"/>
          <p:cNvSpPr/>
          <p:nvPr/>
        </p:nvSpPr>
        <p:spPr>
          <a:xfrm>
            <a:off x="6365875" y="4605657"/>
            <a:ext cx="2990850" cy="908050"/>
          </a:xfrm>
          <a:prstGeom prst="roundRect">
            <a:avLst>
              <a:gd name="adj" fmla="val 8042"/>
            </a:avLst>
          </a:prstGeom>
          <a:solidFill>
            <a:srgbClr val="FCFBF8"/>
          </a:solidFill>
          <a:ln w="6350">
            <a:solidFill>
              <a:srgbClr val="B9D3D1"/>
            </a:solidFill>
            <a:prstDash val="solid"/>
          </a:ln>
        </p:spPr>
      </p:sp>
      <p:sp>
        <p:nvSpPr>
          <p:cNvPr id="24" name="Text 22"/>
          <p:cNvSpPr/>
          <p:nvPr/>
        </p:nvSpPr>
        <p:spPr>
          <a:xfrm>
            <a:off x="6520180" y="4712971"/>
            <a:ext cx="276270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What-if engine</a:t>
            </a:r>
            <a:endParaRPr lang="en-US" sz="1600" dirty="0"/>
          </a:p>
        </p:txBody>
      </p:sp>
      <p:sp>
        <p:nvSpPr>
          <p:cNvPr id="25" name="Text 23"/>
          <p:cNvSpPr/>
          <p:nvPr/>
        </p:nvSpPr>
        <p:spPr>
          <a:xfrm>
            <a:off x="6520180" y="4994911"/>
            <a:ext cx="2762707"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4484C"/>
                </a:solidFill>
                <a:latin typeface="IBM Plex Sans" pitchFamily="34" charset="0"/>
                <a:ea typeface="IBM Plex Sans" pitchFamily="34" charset="-122"/>
                <a:cs typeface="IBM Plex Sans" pitchFamily="34" charset="-120"/>
              </a:rPr>
              <a:t>Meal swap, post-meal walk, dinner shift</a:t>
            </a:r>
            <a:endParaRPr lang="en-US" sz="1200" dirty="0"/>
          </a:p>
        </p:txBody>
      </p:sp>
      <p:sp>
        <p:nvSpPr>
          <p:cNvPr id="26" name="Shape 24"/>
          <p:cNvSpPr/>
          <p:nvPr/>
        </p:nvSpPr>
        <p:spPr>
          <a:xfrm>
            <a:off x="9956800" y="3415032"/>
            <a:ext cx="1422400" cy="1333500"/>
          </a:xfrm>
          <a:prstGeom prst="roundRect">
            <a:avLst>
              <a:gd name="adj" fmla="val 5714"/>
            </a:avLst>
          </a:prstGeom>
          <a:solidFill>
            <a:srgbClr val="0B6E7C"/>
          </a:solidFill>
          <a:ln/>
        </p:spPr>
      </p:sp>
      <p:sp>
        <p:nvSpPr>
          <p:cNvPr id="27" name="Text 25"/>
          <p:cNvSpPr/>
          <p:nvPr/>
        </p:nvSpPr>
        <p:spPr>
          <a:xfrm>
            <a:off x="10083800" y="3606800"/>
            <a:ext cx="121920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FFFFF"/>
                </a:solidFill>
                <a:latin typeface="IBM Plex Sans" pitchFamily="34" charset="0"/>
                <a:ea typeface="IBM Plex Sans" pitchFamily="34" charset="-122"/>
                <a:cs typeface="IBM Plex Sans" pitchFamily="34" charset="-120"/>
              </a:rPr>
              <a:t>Doctor dashboard</a:t>
            </a:r>
            <a:endParaRPr lang="en-US" sz="1600" dirty="0"/>
          </a:p>
        </p:txBody>
      </p:sp>
      <p:sp>
        <p:nvSpPr>
          <p:cNvPr id="28" name="Text 26"/>
          <p:cNvSpPr/>
          <p:nvPr/>
        </p:nvSpPr>
        <p:spPr>
          <a:xfrm>
            <a:off x="10083800" y="4145282"/>
            <a:ext cx="121920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5F3EC"/>
                </a:solidFill>
                <a:latin typeface="IBM Plex Sans" pitchFamily="34" charset="0"/>
                <a:ea typeface="IBM Plex Sans" pitchFamily="34" charset="-122"/>
                <a:cs typeface="IBM Plex Sans" pitchFamily="34" charset="-120"/>
              </a:rPr>
              <a:t>Risk, drivers, what-if</a:t>
            </a:r>
            <a:endParaRPr lang="en-US" sz="1200" dirty="0"/>
          </a:p>
        </p:txBody>
      </p:sp>
      <p:pic>
        <p:nvPicPr>
          <p:cNvPr id="29" name="Image 0" descr="connector">    </p:cNvPr>
          <p:cNvPicPr>
            <a:picLocks noChangeAspect="1"/>
          </p:cNvPicPr>
          <p:nvPr/>
        </p:nvPicPr>
        <p:blipFill>
          <a:blip r:embed="rId1"/>
          <a:srcRect l="0" r="0" t="0" b="0"/>
          <a:stretch/>
        </p:blipFill>
        <p:spPr>
          <a:xfrm>
            <a:off x="3149600" y="3288032"/>
            <a:ext cx="762000" cy="101600"/>
          </a:xfrm>
          <a:prstGeom prst="rect">
            <a:avLst/>
          </a:prstGeom>
        </p:spPr>
      </p:pic>
      <p:pic>
        <p:nvPicPr>
          <p:cNvPr id="30" name="Image 1" descr="connector">    </p:cNvPr>
          <p:cNvPicPr>
            <a:picLocks noChangeAspect="1"/>
          </p:cNvPicPr>
          <p:nvPr/>
        </p:nvPicPr>
        <p:blipFill>
          <a:blip r:embed="rId2"/>
          <a:srcRect l="0" r="0" t="0" b="0"/>
          <a:stretch/>
        </p:blipFill>
        <p:spPr>
          <a:xfrm>
            <a:off x="3149600" y="4773932"/>
            <a:ext cx="762000" cy="101600"/>
          </a:xfrm>
          <a:prstGeom prst="rect">
            <a:avLst/>
          </a:prstGeom>
        </p:spPr>
      </p:pic>
      <p:pic>
        <p:nvPicPr>
          <p:cNvPr id="31" name="Image 2" descr="connector">    </p:cNvPr>
          <p:cNvPicPr>
            <a:picLocks noChangeAspect="1"/>
          </p:cNvPicPr>
          <p:nvPr/>
        </p:nvPicPr>
        <p:blipFill>
          <a:blip r:embed="rId3"/>
          <a:srcRect l="0" r="0" t="0" b="0"/>
          <a:stretch/>
        </p:blipFill>
        <p:spPr>
          <a:xfrm>
            <a:off x="5715000" y="4030982"/>
            <a:ext cx="546100" cy="101600"/>
          </a:xfrm>
          <a:prstGeom prst="rect">
            <a:avLst/>
          </a:prstGeom>
        </p:spPr>
      </p:pic>
      <p:pic>
        <p:nvPicPr>
          <p:cNvPr id="32" name="Image 3" descr="connector">    </p:cNvPr>
          <p:cNvPicPr>
            <a:picLocks noChangeAspect="1"/>
          </p:cNvPicPr>
          <p:nvPr/>
        </p:nvPicPr>
        <p:blipFill>
          <a:blip r:embed="rId4"/>
          <a:srcRect l="0" r="0" t="0" b="0"/>
          <a:stretch/>
        </p:blipFill>
        <p:spPr>
          <a:xfrm>
            <a:off x="9461500" y="4030982"/>
            <a:ext cx="546100" cy="101600"/>
          </a:xfrm>
          <a:prstGeom prst="rect">
            <a:avLst/>
          </a:prstGeom>
        </p:spPr>
      </p:pic>
      <p:pic>
        <p:nvPicPr>
          <p:cNvPr id="33" name="Image 4" descr="connector">    </p:cNvPr>
          <p:cNvPicPr>
            <a:picLocks noChangeAspect="1"/>
          </p:cNvPicPr>
          <p:nvPr/>
        </p:nvPicPr>
        <p:blipFill>
          <a:blip r:embed="rId5"/>
          <a:srcRect l="0" r="0" t="0" b="0"/>
          <a:stretch/>
        </p:blipFill>
        <p:spPr>
          <a:xfrm>
            <a:off x="7810500" y="3180082"/>
            <a:ext cx="101600" cy="330200"/>
          </a:xfrm>
          <a:prstGeom prst="rect">
            <a:avLst/>
          </a:prstGeom>
        </p:spPr>
      </p:pic>
      <p:pic>
        <p:nvPicPr>
          <p:cNvPr id="34" name="Image 5" descr="connector">    </p:cNvPr>
          <p:cNvPicPr>
            <a:picLocks noChangeAspect="1"/>
          </p:cNvPicPr>
          <p:nvPr/>
        </p:nvPicPr>
        <p:blipFill>
          <a:blip r:embed="rId6"/>
          <a:srcRect l="0" r="0" t="0" b="0"/>
          <a:stretch/>
        </p:blipFill>
        <p:spPr>
          <a:xfrm>
            <a:off x="7810500" y="4323082"/>
            <a:ext cx="1016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BUILD</a:t>
            </a:r>
            <a:endParaRPr lang="en-US" sz="1200" dirty="0"/>
          </a:p>
        </p:txBody>
      </p:sp>
      <p:sp>
        <p:nvSpPr>
          <p:cNvPr id="3" name="Text 1"/>
          <p:cNvSpPr/>
          <p:nvPr>
            <p:ph type="title"/>
          </p:nvPr>
        </p:nvSpPr>
        <p:spPr>
          <a:xfrm>
            <a:off x="812800" y="11023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The twin core</a:t>
            </a:r>
            <a:endParaRPr lang="en-US" sz="3600" dirty="0"/>
          </a:p>
        </p:txBody>
      </p:sp>
      <p:sp>
        <p:nvSpPr>
          <p:cNvPr id="4" name="Shape 2"/>
          <p:cNvSpPr/>
          <p:nvPr/>
        </p:nvSpPr>
        <p:spPr>
          <a:xfrm>
            <a:off x="815975" y="1913257"/>
            <a:ext cx="3380264" cy="3102610"/>
          </a:xfrm>
          <a:prstGeom prst="roundRect">
            <a:avLst>
              <a:gd name="adj" fmla="val 3172"/>
            </a:avLst>
          </a:prstGeom>
          <a:solidFill>
            <a:srgbClr val="FCFBF8"/>
          </a:solidFill>
          <a:ln w="6350">
            <a:solidFill>
              <a:srgbClr val="C7D8D4"/>
            </a:solidFill>
            <a:prstDash val="solid"/>
          </a:ln>
        </p:spPr>
      </p:sp>
      <p:sp>
        <p:nvSpPr>
          <p:cNvPr id="5" name="Text 3"/>
          <p:cNvSpPr/>
          <p:nvPr/>
        </p:nvSpPr>
        <p:spPr>
          <a:xfrm>
            <a:off x="1071880" y="2169161"/>
            <a:ext cx="29545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7C"/>
                </a:solidFill>
                <a:latin typeface="IBM Plex Sans" pitchFamily="34" charset="0"/>
                <a:ea typeface="IBM Plex Sans" pitchFamily="34" charset="-122"/>
                <a:cs typeface="IBM Plex Sans" pitchFamily="34" charset="-120"/>
              </a:rPr>
              <a:t>COMPONENT 1</a:t>
            </a:r>
            <a:endParaRPr lang="en-US" sz="1200" dirty="0"/>
          </a:p>
        </p:txBody>
      </p:sp>
      <p:sp>
        <p:nvSpPr>
          <p:cNvPr id="6" name="Text 4"/>
          <p:cNvSpPr/>
          <p:nvPr/>
        </p:nvSpPr>
        <p:spPr>
          <a:xfrm>
            <a:off x="1071880" y="2484121"/>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Patient state</a:t>
            </a:r>
            <a:endParaRPr lang="en-US" sz="2200" dirty="0"/>
          </a:p>
        </p:txBody>
      </p:sp>
      <p:sp>
        <p:nvSpPr>
          <p:cNvPr id="7" name="Text 5"/>
          <p:cNvSpPr/>
          <p:nvPr/>
        </p:nvSpPr>
        <p:spPr>
          <a:xfrm>
            <a:off x="1071880" y="2921000"/>
            <a:ext cx="2954507"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A persistent profile for each patient: an EHR embedding plus fitted physiology.</a:t>
            </a:r>
            <a:endParaRPr lang="en-US" sz="1600" dirty="0"/>
          </a:p>
        </p:txBody>
      </p:sp>
      <p:sp>
        <p:nvSpPr>
          <p:cNvPr id="8" name="Text 6"/>
          <p:cNvSpPr/>
          <p:nvPr/>
        </p:nvSpPr>
        <p:spPr>
          <a:xfrm>
            <a:off x="1170686" y="3845561"/>
            <a:ext cx="2848081" cy="9398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Meal-response gain and delay</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Baseline glucose</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Insulin-sensitivity proxy</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Sync status and completeness</a:t>
            </a:r>
            <a:endParaRPr lang="en-US" sz="1200" dirty="0"/>
          </a:p>
        </p:txBody>
      </p:sp>
      <p:sp>
        <p:nvSpPr>
          <p:cNvPr id="9" name="Shape 7"/>
          <p:cNvSpPr/>
          <p:nvPr/>
        </p:nvSpPr>
        <p:spPr>
          <a:xfrm>
            <a:off x="4405789" y="1913257"/>
            <a:ext cx="3380343" cy="3102610"/>
          </a:xfrm>
          <a:prstGeom prst="roundRect">
            <a:avLst>
              <a:gd name="adj" fmla="val 3172"/>
            </a:avLst>
          </a:prstGeom>
          <a:solidFill>
            <a:srgbClr val="FCFBF8"/>
          </a:solidFill>
          <a:ln w="6350">
            <a:solidFill>
              <a:srgbClr val="C7D8D4"/>
            </a:solidFill>
            <a:prstDash val="solid"/>
          </a:ln>
        </p:spPr>
      </p:sp>
      <p:sp>
        <p:nvSpPr>
          <p:cNvPr id="10" name="Text 8"/>
          <p:cNvSpPr/>
          <p:nvPr/>
        </p:nvSpPr>
        <p:spPr>
          <a:xfrm>
            <a:off x="4661694" y="2169161"/>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7C"/>
                </a:solidFill>
                <a:latin typeface="IBM Plex Sans" pitchFamily="34" charset="0"/>
                <a:ea typeface="IBM Plex Sans" pitchFamily="34" charset="-122"/>
                <a:cs typeface="IBM Plex Sans" pitchFamily="34" charset="-120"/>
              </a:rPr>
              <a:t>COMPONENT 2</a:t>
            </a:r>
            <a:endParaRPr lang="en-US" sz="1200" dirty="0"/>
          </a:p>
        </p:txBody>
      </p:sp>
      <p:sp>
        <p:nvSpPr>
          <p:cNvPr id="11" name="Text 9"/>
          <p:cNvSpPr/>
          <p:nvPr/>
        </p:nvSpPr>
        <p:spPr>
          <a:xfrm>
            <a:off x="4661694" y="2484121"/>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Fusion forecaster</a:t>
            </a:r>
            <a:endParaRPr lang="en-US" sz="2200" dirty="0"/>
          </a:p>
        </p:txBody>
      </p:sp>
      <p:sp>
        <p:nvSpPr>
          <p:cNvPr id="12" name="Text 10"/>
          <p:cNvSpPr/>
          <p:nvPr/>
        </p:nvSpPr>
        <p:spPr>
          <a:xfrm>
            <a:off x="4661694" y="2921000"/>
            <a:ext cx="2954589"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Reads both streams and forecasts glucose for the next two hours.</a:t>
            </a:r>
            <a:endParaRPr lang="en-US" sz="1600" dirty="0"/>
          </a:p>
        </p:txBody>
      </p:sp>
      <p:sp>
        <p:nvSpPr>
          <p:cNvPr id="13" name="Text 11"/>
          <p:cNvSpPr/>
          <p:nvPr/>
        </p:nvSpPr>
        <p:spPr>
          <a:xfrm>
            <a:off x="4760500" y="3845561"/>
            <a:ext cx="2848163" cy="9398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Probability of crossing 180 mg/dL</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Estimated time to crossing</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Trajectory with 10–90% band</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Top drivers in plain English</a:t>
            </a:r>
            <a:endParaRPr lang="en-US" sz="1200" dirty="0"/>
          </a:p>
        </p:txBody>
      </p:sp>
      <p:sp>
        <p:nvSpPr>
          <p:cNvPr id="14" name="Shape 12"/>
          <p:cNvSpPr/>
          <p:nvPr/>
        </p:nvSpPr>
        <p:spPr>
          <a:xfrm>
            <a:off x="7995682" y="1913257"/>
            <a:ext cx="3380343" cy="3102610"/>
          </a:xfrm>
          <a:prstGeom prst="roundRect">
            <a:avLst>
              <a:gd name="adj" fmla="val 3172"/>
            </a:avLst>
          </a:prstGeom>
          <a:solidFill>
            <a:srgbClr val="FCFBF8"/>
          </a:solidFill>
          <a:ln w="6350">
            <a:solidFill>
              <a:srgbClr val="C7D8D4"/>
            </a:solidFill>
            <a:prstDash val="solid"/>
          </a:ln>
        </p:spPr>
      </p:sp>
      <p:sp>
        <p:nvSpPr>
          <p:cNvPr id="15" name="Text 13"/>
          <p:cNvSpPr/>
          <p:nvPr/>
        </p:nvSpPr>
        <p:spPr>
          <a:xfrm>
            <a:off x="8251587" y="2169161"/>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7C"/>
                </a:solidFill>
                <a:latin typeface="IBM Plex Sans" pitchFamily="34" charset="0"/>
                <a:ea typeface="IBM Plex Sans" pitchFamily="34" charset="-122"/>
                <a:cs typeface="IBM Plex Sans" pitchFamily="34" charset="-120"/>
              </a:rPr>
              <a:t>COMPONENT 3</a:t>
            </a:r>
            <a:endParaRPr lang="en-US" sz="1200" dirty="0"/>
          </a:p>
        </p:txBody>
      </p:sp>
      <p:sp>
        <p:nvSpPr>
          <p:cNvPr id="16" name="Text 14"/>
          <p:cNvSpPr/>
          <p:nvPr/>
        </p:nvSpPr>
        <p:spPr>
          <a:xfrm>
            <a:off x="8251587" y="2484121"/>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What-if engine</a:t>
            </a:r>
            <a:endParaRPr lang="en-US" sz="2200" dirty="0"/>
          </a:p>
        </p:txBody>
      </p:sp>
      <p:sp>
        <p:nvSpPr>
          <p:cNvPr id="17" name="Text 15"/>
          <p:cNvSpPr/>
          <p:nvPr/>
        </p:nvSpPr>
        <p:spPr>
          <a:xfrm>
            <a:off x="8251587" y="2921000"/>
            <a:ext cx="2954589"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4484C"/>
                </a:solidFill>
                <a:latin typeface="IBM Plex Sans" pitchFamily="34" charset="0"/>
                <a:ea typeface="IBM Plex Sans" pitchFamily="34" charset="-122"/>
                <a:cs typeface="IBM Plex Sans" pitchFamily="34" charset="-120"/>
              </a:rPr>
              <a:t>Re-runs the forecast for a changed meal, walk or dinner time.</a:t>
            </a:r>
            <a:endParaRPr lang="en-US" sz="1600" dirty="0"/>
          </a:p>
        </p:txBody>
      </p:sp>
      <p:sp>
        <p:nvSpPr>
          <p:cNvPr id="18" name="Text 16"/>
          <p:cNvSpPr/>
          <p:nvPr/>
        </p:nvSpPr>
        <p:spPr>
          <a:xfrm>
            <a:off x="8350393" y="3845561"/>
            <a:ext cx="2848163" cy="939800"/>
          </a:xfrm>
          <a:prstGeom prst="rect">
            <a:avLst/>
          </a:prstGeom>
          <a:noFill/>
          <a:ln/>
        </p:spPr>
        <p:txBody>
          <a:bodyPr wrap="square" lIns="0" tIns="0" rIns="0" bIns="0" rtlCol="0" anchor="t">
            <a:normAutofit/>
          </a:bodyPr>
          <a:lstStyle/>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Counterfactual glucose curve</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Change in predicted peak</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Change in risk</a:t>
            </a:r>
            <a:endParaRPr lang="en-US" sz="1200" dirty="0"/>
          </a:p>
          <a:p>
            <a:pPr algn="l" marL="155194" indent="-155194">
              <a:lnSpc>
                <a:spcPts val="1800"/>
              </a:lnSpc>
              <a:buSzPct val="100000"/>
              <a:buChar char="•"/>
            </a:pPr>
            <a:r>
              <a:rPr lang="en-US" sz="1200" dirty="0">
                <a:solidFill>
                  <a:srgbClr val="34484C"/>
                </a:solidFill>
                <a:latin typeface="IBM Plex Sans" pitchFamily="34" charset="0"/>
                <a:ea typeface="IBM Plex Sans" pitchFamily="34" charset="-122"/>
                <a:cs typeface="IBM Plex Sans" pitchFamily="34" charset="-120"/>
              </a:rPr>
              <a:t>Assumption label on each effect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BUILD</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Fusion features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8639"/>
          <a:ext cx="10556240" cy="2407920"/>
        </p:xfrm>
        <a:graphic>
          <a:graphicData uri="http://schemas.openxmlformats.org/drawingml/2006/table">
            <a:tbl>
              <a:tblPr/>
              <a:tblGrid>
                <a:gridCol w="1477874"/>
                <a:gridCol w="2533498"/>
                <a:gridCol w="6544869"/>
              </a:tblGrid>
              <a:tr h="330200">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Group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What it captures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Examples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CGM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Glucose level and momentum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Level; 15, 30 and 60-minute slopes; rolling mean, SD and CV over 1, 3 and 6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Meals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Carbohydrate load and timing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Time since last meal; carbs, protein, fat, fibre and kcal of the last meal and the last 2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54356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Wearables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Activity, heart rate, recovery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Steps and METs over 30, 60 and 180 minutes; heart rate against the personal baseline; sleep and HRV where available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EHR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Who the patient 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Age, BMI, HbA1c, fasting glucose and insulin, lipids, medications, diagnoses, genetic 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54356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Twin state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Personal physiology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Fitted response gain and delay, baseline glucose, insulin-sensitivity proxy (from past data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r>
            </a:tbl>
          </a:graphicData>
        </a:graphic>
      </p:graphicFrame>
      <p:sp>
        <p:nvSpPr>
          <p:cNvPr id="5" name="Text 2"/>
          <p:cNvSpPr/>
          <p:nvPr/>
        </p:nvSpPr>
        <p:spPr>
          <a:xfrm>
            <a:off x="812800" y="4429764"/>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E71"/>
                </a:solidFill>
                <a:latin typeface="IBM Plex Sans" pitchFamily="34" charset="0"/>
                <a:ea typeface="IBM Plex Sans" pitchFamily="34" charset="-122"/>
                <a:cs typeface="IBM Plex Sans" pitchFamily="34" charset="-120"/>
              </a:rPr>
              <a:t>Each dataset declares the groups it provides, and every ablation uses only those groups.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BUILD</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Evaluation protocol</a:t>
            </a:r>
            <a:endParaRPr lang="en-US" sz="3600" dirty="0"/>
          </a:p>
        </p:txBody>
      </p:sp>
      <p:sp>
        <p:nvSpPr>
          <p:cNvPr id="4" name="Shape 2"/>
          <p:cNvSpPr/>
          <p:nvPr/>
        </p:nvSpPr>
        <p:spPr>
          <a:xfrm>
            <a:off x="812800" y="1862454"/>
            <a:ext cx="10566400" cy="0"/>
          </a:xfrm>
          <a:prstGeom prst="line">
            <a:avLst/>
          </a:prstGeom>
          <a:noFill/>
          <a:ln w="6350">
            <a:solidFill>
              <a:srgbClr val="B9CFCB"/>
            </a:solidFill>
            <a:prstDash val="solid"/>
          </a:ln>
        </p:spPr>
      </p:sp>
      <p:sp>
        <p:nvSpPr>
          <p:cNvPr id="5" name="Text 3"/>
          <p:cNvSpPr/>
          <p:nvPr/>
        </p:nvSpPr>
        <p:spPr>
          <a:xfrm>
            <a:off x="812800" y="1991364"/>
            <a:ext cx="20367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B6E7C"/>
                </a:solidFill>
                <a:latin typeface="Source Serif 4" pitchFamily="18" charset="0"/>
                <a:ea typeface="Source Serif 4" pitchFamily="18" charset="-122"/>
                <a:cs typeface="Source Serif 4" pitchFamily="18" charset="-120"/>
              </a:rPr>
              <a:t>1</a:t>
            </a:r>
            <a:endParaRPr lang="en-US" sz="2200" dirty="0"/>
          </a:p>
        </p:txBody>
      </p:sp>
      <p:sp>
        <p:nvSpPr>
          <p:cNvPr id="6" name="Text 4"/>
          <p:cNvSpPr/>
          <p:nvPr/>
        </p:nvSpPr>
        <p:spPr>
          <a:xfrm>
            <a:off x="1092676" y="2042164"/>
            <a:ext cx="6180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Label</a:t>
            </a:r>
            <a:endParaRPr lang="en-US" sz="1600" dirty="0"/>
          </a:p>
        </p:txBody>
      </p:sp>
      <p:sp>
        <p:nvSpPr>
          <p:cNvPr id="7" name="Text 5"/>
          <p:cNvSpPr/>
          <p:nvPr/>
        </p:nvSpPr>
        <p:spPr>
          <a:xfrm>
            <a:off x="3733800" y="1991364"/>
            <a:ext cx="787476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4484C"/>
                </a:solidFill>
                <a:latin typeface="IBM Plex Sans" pitchFamily="34" charset="0"/>
                <a:ea typeface="IBM Plex Sans" pitchFamily="34" charset="-122"/>
                <a:cs typeface="IBM Plex Sans" pitchFamily="34" charset="-120"/>
              </a:rPr>
              <a:t>Positive if glucose exceeds 180 mg/dL at any point in the next 120 minutes. Scored only when glucose is below 180 now and at least 80% of readings are present.</a:t>
            </a:r>
            <a:endParaRPr lang="en-US" sz="1200" dirty="0"/>
          </a:p>
        </p:txBody>
      </p:sp>
      <p:sp>
        <p:nvSpPr>
          <p:cNvPr id="8" name="Shape 6"/>
          <p:cNvSpPr/>
          <p:nvPr/>
        </p:nvSpPr>
        <p:spPr>
          <a:xfrm>
            <a:off x="812800" y="2563496"/>
            <a:ext cx="10566400" cy="0"/>
          </a:xfrm>
          <a:prstGeom prst="line">
            <a:avLst/>
          </a:prstGeom>
          <a:noFill/>
          <a:ln w="6350">
            <a:solidFill>
              <a:srgbClr val="B9CFCB"/>
            </a:solidFill>
            <a:prstDash val="solid"/>
          </a:ln>
        </p:spPr>
      </p:sp>
      <p:sp>
        <p:nvSpPr>
          <p:cNvPr id="9" name="Text 7"/>
          <p:cNvSpPr/>
          <p:nvPr/>
        </p:nvSpPr>
        <p:spPr>
          <a:xfrm>
            <a:off x="812800" y="2692400"/>
            <a:ext cx="20367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B6E7C"/>
                </a:solidFill>
                <a:latin typeface="Source Serif 4" pitchFamily="18" charset="0"/>
                <a:ea typeface="Source Serif 4" pitchFamily="18" charset="-122"/>
                <a:cs typeface="Source Serif 4" pitchFamily="18" charset="-120"/>
              </a:rPr>
              <a:t>2</a:t>
            </a:r>
            <a:endParaRPr lang="en-US" sz="2200" dirty="0"/>
          </a:p>
        </p:txBody>
      </p:sp>
      <p:sp>
        <p:nvSpPr>
          <p:cNvPr id="10" name="Text 8"/>
          <p:cNvSpPr/>
          <p:nvPr/>
        </p:nvSpPr>
        <p:spPr>
          <a:xfrm>
            <a:off x="1092676" y="2743200"/>
            <a:ext cx="125472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No leakage</a:t>
            </a:r>
            <a:endParaRPr lang="en-US" sz="1600" dirty="0"/>
          </a:p>
        </p:txBody>
      </p:sp>
      <p:sp>
        <p:nvSpPr>
          <p:cNvPr id="11" name="Text 9"/>
          <p:cNvSpPr/>
          <p:nvPr/>
        </p:nvSpPr>
        <p:spPr>
          <a:xfrm>
            <a:off x="3733800" y="2692400"/>
            <a:ext cx="787476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4484C"/>
                </a:solidFill>
                <a:latin typeface="IBM Plex Sans" pitchFamily="34" charset="0"/>
                <a:ea typeface="IBM Plex Sans" pitchFamily="34" charset="-122"/>
                <a:cs typeface="IBM Plex Sans" pitchFamily="34" charset="-120"/>
              </a:rPr>
              <a:t>Features use only data stamped at or before the decision time. Scalers, imputers, thresholds and calibrators are fit on training patients only.</a:t>
            </a:r>
            <a:endParaRPr lang="en-US" sz="1200" dirty="0"/>
          </a:p>
        </p:txBody>
      </p:sp>
      <p:sp>
        <p:nvSpPr>
          <p:cNvPr id="12" name="Shape 10"/>
          <p:cNvSpPr/>
          <p:nvPr/>
        </p:nvSpPr>
        <p:spPr>
          <a:xfrm>
            <a:off x="812800" y="3264539"/>
            <a:ext cx="10566400" cy="0"/>
          </a:xfrm>
          <a:prstGeom prst="line">
            <a:avLst/>
          </a:prstGeom>
          <a:noFill/>
          <a:ln w="6350">
            <a:solidFill>
              <a:srgbClr val="B9CFCB"/>
            </a:solidFill>
            <a:prstDash val="solid"/>
          </a:ln>
        </p:spPr>
      </p:sp>
      <p:sp>
        <p:nvSpPr>
          <p:cNvPr id="13" name="Text 11"/>
          <p:cNvSpPr/>
          <p:nvPr/>
        </p:nvSpPr>
        <p:spPr>
          <a:xfrm>
            <a:off x="812800" y="3393442"/>
            <a:ext cx="20367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B6E7C"/>
                </a:solidFill>
                <a:latin typeface="Source Serif 4" pitchFamily="18" charset="0"/>
                <a:ea typeface="Source Serif 4" pitchFamily="18" charset="-122"/>
                <a:cs typeface="Source Serif 4" pitchFamily="18" charset="-120"/>
              </a:rPr>
              <a:t>3</a:t>
            </a:r>
            <a:endParaRPr lang="en-US" sz="2200" dirty="0"/>
          </a:p>
        </p:txBody>
      </p:sp>
      <p:sp>
        <p:nvSpPr>
          <p:cNvPr id="14" name="Text 12"/>
          <p:cNvSpPr/>
          <p:nvPr/>
        </p:nvSpPr>
        <p:spPr>
          <a:xfrm>
            <a:off x="1092676" y="3444242"/>
            <a:ext cx="21127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Patient-wise splits</a:t>
            </a:r>
            <a:endParaRPr lang="en-US" sz="1600" dirty="0"/>
          </a:p>
        </p:txBody>
      </p:sp>
      <p:sp>
        <p:nvSpPr>
          <p:cNvPr id="15" name="Text 13"/>
          <p:cNvSpPr/>
          <p:nvPr/>
        </p:nvSpPr>
        <p:spPr>
          <a:xfrm>
            <a:off x="3733800" y="3393442"/>
            <a:ext cx="787476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4484C"/>
                </a:solidFill>
                <a:latin typeface="IBM Plex Sans" pitchFamily="34" charset="0"/>
                <a:ea typeface="IBM Plex Sans" pitchFamily="34" charset="-122"/>
                <a:cs typeface="IBM Plex Sans" pitchFamily="34" charset="-120"/>
              </a:rPr>
              <a:t>Leave-one-patient-out, or grouped 5-fold when a dataset has more than 60 patients, so no patient appears in both training and test.</a:t>
            </a:r>
            <a:endParaRPr lang="en-US" sz="1200" dirty="0"/>
          </a:p>
        </p:txBody>
      </p:sp>
      <p:sp>
        <p:nvSpPr>
          <p:cNvPr id="16" name="Shape 14"/>
          <p:cNvSpPr/>
          <p:nvPr/>
        </p:nvSpPr>
        <p:spPr>
          <a:xfrm>
            <a:off x="812800" y="3965575"/>
            <a:ext cx="10566400" cy="0"/>
          </a:xfrm>
          <a:prstGeom prst="line">
            <a:avLst/>
          </a:prstGeom>
          <a:noFill/>
          <a:ln w="6350">
            <a:solidFill>
              <a:srgbClr val="B9CFCB"/>
            </a:solidFill>
            <a:prstDash val="solid"/>
          </a:ln>
        </p:spPr>
      </p:sp>
      <p:sp>
        <p:nvSpPr>
          <p:cNvPr id="17" name="Text 15"/>
          <p:cNvSpPr/>
          <p:nvPr/>
        </p:nvSpPr>
        <p:spPr>
          <a:xfrm>
            <a:off x="812800" y="4094479"/>
            <a:ext cx="20367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B6E7C"/>
                </a:solidFill>
                <a:latin typeface="Source Serif 4" pitchFamily="18" charset="0"/>
                <a:ea typeface="Source Serif 4" pitchFamily="18" charset="-122"/>
                <a:cs typeface="Source Serif 4" pitchFamily="18" charset="-120"/>
              </a:rPr>
              <a:t>4</a:t>
            </a:r>
            <a:endParaRPr lang="en-US" sz="2200" dirty="0"/>
          </a:p>
        </p:txBody>
      </p:sp>
      <p:sp>
        <p:nvSpPr>
          <p:cNvPr id="18" name="Text 16"/>
          <p:cNvSpPr/>
          <p:nvPr/>
        </p:nvSpPr>
        <p:spPr>
          <a:xfrm>
            <a:off x="1092676" y="4145279"/>
            <a:ext cx="129235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Alert policy</a:t>
            </a:r>
            <a:endParaRPr lang="en-US" sz="1600" dirty="0"/>
          </a:p>
        </p:txBody>
      </p:sp>
      <p:sp>
        <p:nvSpPr>
          <p:cNvPr id="19" name="Text 17"/>
          <p:cNvSpPr/>
          <p:nvPr/>
        </p:nvSpPr>
        <p:spPr>
          <a:xfrm>
            <a:off x="3733800" y="4094479"/>
            <a:ext cx="787476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4484C"/>
                </a:solidFill>
                <a:latin typeface="IBM Plex Sans" pitchFamily="34" charset="0"/>
                <a:ea typeface="IBM Plex Sans" pitchFamily="34" charset="-122"/>
                <a:cs typeface="IBM Plex Sans" pitchFamily="34" charset="-120"/>
              </a:rPr>
              <a:t>Probabilities are calibrated. The alert threshold is set on training patients for a target false-alert rate, with a 60-minute cooldown after each alert.</a:t>
            </a:r>
            <a:endParaRPr lang="en-US" sz="1200" dirty="0"/>
          </a:p>
        </p:txBody>
      </p:sp>
      <p:sp>
        <p:nvSpPr>
          <p:cNvPr id="20" name="Shape 18"/>
          <p:cNvSpPr/>
          <p:nvPr/>
        </p:nvSpPr>
        <p:spPr>
          <a:xfrm>
            <a:off x="812800" y="4666617"/>
            <a:ext cx="10566400" cy="0"/>
          </a:xfrm>
          <a:prstGeom prst="line">
            <a:avLst/>
          </a:prstGeom>
          <a:noFill/>
          <a:ln w="6350">
            <a:solidFill>
              <a:srgbClr val="B9CFCB"/>
            </a:solidFill>
            <a:prstDash val="solid"/>
          </a:ln>
        </p:spPr>
      </p:sp>
      <p:sp>
        <p:nvSpPr>
          <p:cNvPr id="21" name="Text 19"/>
          <p:cNvSpPr/>
          <p:nvPr/>
        </p:nvSpPr>
        <p:spPr>
          <a:xfrm>
            <a:off x="812800" y="4795521"/>
            <a:ext cx="203676" cy="332740"/>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0B6E7C"/>
                </a:solidFill>
                <a:latin typeface="Source Serif 4" pitchFamily="18" charset="0"/>
                <a:ea typeface="Source Serif 4" pitchFamily="18" charset="-122"/>
                <a:cs typeface="Source Serif 4" pitchFamily="18" charset="-120"/>
              </a:rPr>
              <a:t>5</a:t>
            </a:r>
            <a:endParaRPr lang="en-US" sz="2200" dirty="0"/>
          </a:p>
        </p:txBody>
      </p:sp>
      <p:sp>
        <p:nvSpPr>
          <p:cNvPr id="22" name="Text 20"/>
          <p:cNvSpPr/>
          <p:nvPr/>
        </p:nvSpPr>
        <p:spPr>
          <a:xfrm>
            <a:off x="1092676" y="4846321"/>
            <a:ext cx="8362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IBM Plex Sans" pitchFamily="34" charset="0"/>
                <a:ea typeface="IBM Plex Sans" pitchFamily="34" charset="-122"/>
                <a:cs typeface="IBM Plex Sans" pitchFamily="34" charset="-120"/>
              </a:rPr>
              <a:t>Metrics</a:t>
            </a:r>
            <a:endParaRPr lang="en-US" sz="1600" dirty="0"/>
          </a:p>
        </p:txBody>
      </p:sp>
      <p:sp>
        <p:nvSpPr>
          <p:cNvPr id="23" name="Text 21"/>
          <p:cNvSpPr/>
          <p:nvPr/>
        </p:nvSpPr>
        <p:spPr>
          <a:xfrm>
            <a:off x="3733800" y="4795521"/>
            <a:ext cx="787476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4484C"/>
                </a:solidFill>
                <a:latin typeface="IBM Plex Sans" pitchFamily="34" charset="0"/>
                <a:ea typeface="IBM Plex Sans" pitchFamily="34" charset="-122"/>
                <a:cs typeface="IBM Plex Sans" pitchFamily="34" charset="-120"/>
              </a:rPr>
              <a:t>PR-AUC against prevalence, ROC-AUC, Brier score, calibration, sensitivity at a fixed false-alert rate and event-level detection, each with a 95% CI from a patient-level bootstrap.</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371467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EVIDENCE</a:t>
            </a:r>
            <a:endParaRPr lang="en-US" sz="1200" dirty="0"/>
          </a:p>
        </p:txBody>
      </p:sp>
      <p:sp>
        <p:nvSpPr>
          <p:cNvPr id="3" name="Text 1"/>
          <p:cNvSpPr/>
          <p:nvPr>
            <p:ph type="title"/>
          </p:nvPr>
        </p:nvSpPr>
        <p:spPr>
          <a:xfrm>
            <a:off x="812800" y="1102364"/>
            <a:ext cx="4327779"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Headline results</a:t>
            </a:r>
            <a:endParaRPr lang="en-US" sz="3600" dirty="0"/>
          </a:p>
        </p:txBody>
      </p:sp>
      <p:sp>
        <p:nvSpPr>
          <p:cNvPr id="4" name="Text 2"/>
          <p:cNvSpPr/>
          <p:nvPr/>
        </p:nvSpPr>
        <p:spPr>
          <a:xfrm>
            <a:off x="8401765" y="1295400"/>
            <a:ext cx="2977436" cy="309880"/>
          </a:xfrm>
          <a:prstGeom prst="roundRect">
            <a:avLst>
              <a:gd name="adj" fmla="val 49180"/>
            </a:avLst>
          </a:prstGeom>
          <a:solidFill>
            <a:srgbClr val="F8E5D0"/>
          </a:solidFill>
          <a:ln/>
        </p:spPr>
        <p:txBody>
          <a:bodyPr wrap="none" lIns="0" tIns="0" rIns="0" bIns="0" rtlCol="0" anchor="ctr">
            <a:normAutofit/>
          </a:bodyPr>
          <a:lstStyle/>
          <a:p>
            <a:pPr algn="ctr" indent="0" marL="0">
              <a:lnSpc>
                <a:spcPts val="1440"/>
              </a:lnSpc>
              <a:buNone/>
            </a:pPr>
            <a:r>
              <a:rPr lang="en-US" sz="1200" b="1" dirty="0">
                <a:solidFill>
                  <a:srgbClr val="7A3A05"/>
                </a:solidFill>
                <a:latin typeface="IBM Plex Sans" pitchFamily="34" charset="0"/>
                <a:ea typeface="IBM Plex Sans" pitchFamily="34" charset="-122"/>
                <a:cs typeface="IBM Plex Sans" pitchFamily="34" charset="-120"/>
              </a:rPr>
              <a:t>Pending: fill from results/metrics.json</a:t>
            </a:r>
            <a:endParaRPr lang="en-US" sz="1200" dirty="0"/>
          </a:p>
        </p:txBody>
      </p:sp>
      <p:sp>
        <p:nvSpPr>
          <p:cNvPr id="5" name="Shape 3"/>
          <p:cNvSpPr/>
          <p:nvPr/>
        </p:nvSpPr>
        <p:spPr>
          <a:xfrm>
            <a:off x="815975" y="1913254"/>
            <a:ext cx="2520950" cy="1913890"/>
          </a:xfrm>
          <a:prstGeom prst="roundRect">
            <a:avLst>
              <a:gd name="adj" fmla="val 5143"/>
            </a:avLst>
          </a:prstGeom>
          <a:solidFill>
            <a:srgbClr val="FCFBF8"/>
          </a:solidFill>
          <a:ln w="6350">
            <a:solidFill>
              <a:srgbClr val="D5D8CF"/>
            </a:solidFill>
            <a:prstDash val="solid"/>
          </a:ln>
        </p:spPr>
      </p:sp>
      <p:sp>
        <p:nvSpPr>
          <p:cNvPr id="6" name="Text 4"/>
          <p:cNvSpPr/>
          <p:nvPr/>
        </p:nvSpPr>
        <p:spPr>
          <a:xfrm>
            <a:off x="1021080" y="2118364"/>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E71"/>
                </a:solidFill>
                <a:latin typeface="IBM Plex Sans" pitchFamily="34" charset="0"/>
                <a:ea typeface="IBM Plex Sans" pitchFamily="34" charset="-122"/>
                <a:cs typeface="IBM Plex Sans" pitchFamily="34" charset="-120"/>
              </a:rPr>
              <a:t>PR-AUC</a:t>
            </a:r>
            <a:endParaRPr lang="en-US" sz="1200" dirty="0"/>
          </a:p>
        </p:txBody>
      </p:sp>
      <p:sp>
        <p:nvSpPr>
          <p:cNvPr id="7" name="Text 5"/>
          <p:cNvSpPr/>
          <p:nvPr/>
        </p:nvSpPr>
        <p:spPr>
          <a:xfrm>
            <a:off x="1021080" y="2407921"/>
            <a:ext cx="2174062"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9C4A07"/>
                </a:solidFill>
                <a:latin typeface="Source Serif 4" pitchFamily="18" charset="0"/>
                <a:ea typeface="Source Serif 4" pitchFamily="18" charset="-122"/>
                <a:cs typeface="Source Serif 4" pitchFamily="18" charset="-120"/>
              </a:rPr>
              <a:t>[__]</a:t>
            </a:r>
            <a:endParaRPr lang="en-US" sz="5600" dirty="0"/>
          </a:p>
        </p:txBody>
      </p:sp>
      <p:sp>
        <p:nvSpPr>
          <p:cNvPr id="8" name="Text 6"/>
          <p:cNvSpPr/>
          <p:nvPr/>
        </p:nvSpPr>
        <p:spPr>
          <a:xfrm>
            <a:off x="1021080" y="3195321"/>
            <a:ext cx="21740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against a prevalence of [__]</a:t>
            </a:r>
            <a:endParaRPr lang="en-US" sz="1200" dirty="0"/>
          </a:p>
        </p:txBody>
      </p:sp>
      <p:sp>
        <p:nvSpPr>
          <p:cNvPr id="9" name="Shape 7"/>
          <p:cNvSpPr/>
          <p:nvPr/>
        </p:nvSpPr>
        <p:spPr>
          <a:xfrm>
            <a:off x="3495675" y="1913254"/>
            <a:ext cx="2520950" cy="1913890"/>
          </a:xfrm>
          <a:prstGeom prst="roundRect">
            <a:avLst>
              <a:gd name="adj" fmla="val 5143"/>
            </a:avLst>
          </a:prstGeom>
          <a:solidFill>
            <a:srgbClr val="FCFBF8"/>
          </a:solidFill>
          <a:ln w="6350">
            <a:solidFill>
              <a:srgbClr val="D5D8CF"/>
            </a:solidFill>
            <a:prstDash val="solid"/>
          </a:ln>
        </p:spPr>
      </p:sp>
      <p:sp>
        <p:nvSpPr>
          <p:cNvPr id="10" name="Text 8"/>
          <p:cNvSpPr/>
          <p:nvPr/>
        </p:nvSpPr>
        <p:spPr>
          <a:xfrm>
            <a:off x="3700780" y="2118364"/>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E71"/>
                </a:solidFill>
                <a:latin typeface="IBM Plex Sans" pitchFamily="34" charset="0"/>
                <a:ea typeface="IBM Plex Sans" pitchFamily="34" charset="-122"/>
                <a:cs typeface="IBM Plex Sans" pitchFamily="34" charset="-120"/>
              </a:rPr>
              <a:t>SENSITIVITY</a:t>
            </a:r>
            <a:endParaRPr lang="en-US" sz="1200" dirty="0"/>
          </a:p>
        </p:txBody>
      </p:sp>
      <p:sp>
        <p:nvSpPr>
          <p:cNvPr id="11" name="Text 9"/>
          <p:cNvSpPr/>
          <p:nvPr/>
        </p:nvSpPr>
        <p:spPr>
          <a:xfrm>
            <a:off x="3700780" y="2407921"/>
            <a:ext cx="2174062"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9C4A07"/>
                </a:solidFill>
                <a:latin typeface="Source Serif 4" pitchFamily="18" charset="0"/>
                <a:ea typeface="Source Serif 4" pitchFamily="18" charset="-122"/>
                <a:cs typeface="Source Serif 4" pitchFamily="18" charset="-120"/>
              </a:rPr>
              <a:t>[__%]</a:t>
            </a:r>
            <a:endParaRPr lang="en-US" sz="5600" dirty="0"/>
          </a:p>
        </p:txBody>
      </p:sp>
      <p:sp>
        <p:nvSpPr>
          <p:cNvPr id="12" name="Text 10"/>
          <p:cNvSpPr/>
          <p:nvPr/>
        </p:nvSpPr>
        <p:spPr>
          <a:xfrm>
            <a:off x="3700780" y="3195321"/>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at [__] false alerts per patient-day</a:t>
            </a:r>
            <a:endParaRPr lang="en-US" sz="1200" dirty="0"/>
          </a:p>
        </p:txBody>
      </p:sp>
      <p:sp>
        <p:nvSpPr>
          <p:cNvPr id="13" name="Shape 11"/>
          <p:cNvSpPr/>
          <p:nvPr/>
        </p:nvSpPr>
        <p:spPr>
          <a:xfrm>
            <a:off x="6175375" y="1913254"/>
            <a:ext cx="2520950" cy="1913890"/>
          </a:xfrm>
          <a:prstGeom prst="roundRect">
            <a:avLst>
              <a:gd name="adj" fmla="val 5143"/>
            </a:avLst>
          </a:prstGeom>
          <a:solidFill>
            <a:srgbClr val="FCFBF8"/>
          </a:solidFill>
          <a:ln w="6350">
            <a:solidFill>
              <a:srgbClr val="D5D8CF"/>
            </a:solidFill>
            <a:prstDash val="solid"/>
          </a:ln>
        </p:spPr>
      </p:sp>
      <p:sp>
        <p:nvSpPr>
          <p:cNvPr id="14" name="Text 12"/>
          <p:cNvSpPr/>
          <p:nvPr/>
        </p:nvSpPr>
        <p:spPr>
          <a:xfrm>
            <a:off x="6380480" y="2118364"/>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E71"/>
                </a:solidFill>
                <a:latin typeface="IBM Plex Sans" pitchFamily="34" charset="0"/>
                <a:ea typeface="IBM Plex Sans" pitchFamily="34" charset="-122"/>
                <a:cs typeface="IBM Plex Sans" pitchFamily="34" charset="-120"/>
              </a:rPr>
              <a:t>LEAD TIME</a:t>
            </a:r>
            <a:endParaRPr lang="en-US" sz="1200" dirty="0"/>
          </a:p>
        </p:txBody>
      </p:sp>
      <p:sp>
        <p:nvSpPr>
          <p:cNvPr id="15" name="Text 13"/>
          <p:cNvSpPr/>
          <p:nvPr/>
        </p:nvSpPr>
        <p:spPr>
          <a:xfrm>
            <a:off x="6380480" y="2407921"/>
            <a:ext cx="2174062"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9C4A07"/>
                </a:solidFill>
                <a:latin typeface="Source Serif 4" pitchFamily="18" charset="0"/>
                <a:ea typeface="Source Serif 4" pitchFamily="18" charset="-122"/>
                <a:cs typeface="Source Serif 4" pitchFamily="18" charset="-120"/>
              </a:rPr>
              <a:t>[__]</a:t>
            </a:r>
            <a:endParaRPr lang="en-US" sz="5600" dirty="0"/>
          </a:p>
        </p:txBody>
      </p:sp>
      <p:sp>
        <p:nvSpPr>
          <p:cNvPr id="16" name="Text 14"/>
          <p:cNvSpPr/>
          <p:nvPr/>
        </p:nvSpPr>
        <p:spPr>
          <a:xfrm>
            <a:off x="6380480" y="3195321"/>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median minutes of warning before the excursion</a:t>
            </a:r>
            <a:endParaRPr lang="en-US" sz="1200" dirty="0"/>
          </a:p>
        </p:txBody>
      </p:sp>
      <p:sp>
        <p:nvSpPr>
          <p:cNvPr id="17" name="Shape 15"/>
          <p:cNvSpPr/>
          <p:nvPr/>
        </p:nvSpPr>
        <p:spPr>
          <a:xfrm>
            <a:off x="8855075" y="1913254"/>
            <a:ext cx="2520950" cy="1913890"/>
          </a:xfrm>
          <a:prstGeom prst="roundRect">
            <a:avLst>
              <a:gd name="adj" fmla="val 5143"/>
            </a:avLst>
          </a:prstGeom>
          <a:solidFill>
            <a:srgbClr val="FCFBF8"/>
          </a:solidFill>
          <a:ln w="6350">
            <a:solidFill>
              <a:srgbClr val="D5D8CF"/>
            </a:solidFill>
            <a:prstDash val="solid"/>
          </a:ln>
        </p:spPr>
      </p:sp>
      <p:sp>
        <p:nvSpPr>
          <p:cNvPr id="18" name="Text 16"/>
          <p:cNvSpPr/>
          <p:nvPr/>
        </p:nvSpPr>
        <p:spPr>
          <a:xfrm>
            <a:off x="9060180" y="2118364"/>
            <a:ext cx="217406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E71"/>
                </a:solidFill>
                <a:latin typeface="IBM Plex Sans" pitchFamily="34" charset="0"/>
                <a:ea typeface="IBM Plex Sans" pitchFamily="34" charset="-122"/>
                <a:cs typeface="IBM Plex Sans" pitchFamily="34" charset="-120"/>
              </a:rPr>
              <a:t>EVENTS DETECTED</a:t>
            </a:r>
            <a:endParaRPr lang="en-US" sz="1200" dirty="0"/>
          </a:p>
        </p:txBody>
      </p:sp>
      <p:sp>
        <p:nvSpPr>
          <p:cNvPr id="19" name="Text 17"/>
          <p:cNvSpPr/>
          <p:nvPr/>
        </p:nvSpPr>
        <p:spPr>
          <a:xfrm>
            <a:off x="9060180" y="2407921"/>
            <a:ext cx="2174062"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9C4A07"/>
                </a:solidFill>
                <a:latin typeface="Source Serif 4" pitchFamily="18" charset="0"/>
                <a:ea typeface="Source Serif 4" pitchFamily="18" charset="-122"/>
                <a:cs typeface="Source Serif 4" pitchFamily="18" charset="-120"/>
              </a:rPr>
              <a:t>[__%]</a:t>
            </a:r>
            <a:endParaRPr lang="en-US" sz="5600" dirty="0"/>
          </a:p>
        </p:txBody>
      </p:sp>
      <p:sp>
        <p:nvSpPr>
          <p:cNvPr id="20" name="Text 18"/>
          <p:cNvSpPr/>
          <p:nvPr/>
        </p:nvSpPr>
        <p:spPr>
          <a:xfrm>
            <a:off x="9060180" y="3195321"/>
            <a:ext cx="21740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of excursions had an alert 15 to 120 minutes ahead</a:t>
            </a:r>
            <a:endParaRPr lang="en-US" sz="1200" dirty="0"/>
          </a:p>
        </p:txBody>
      </p:sp>
      <p:sp>
        <p:nvSpPr>
          <p:cNvPr id="21" name="Text 19"/>
          <p:cNvSpPr/>
          <p:nvPr/>
        </p:nvSpPr>
        <p:spPr>
          <a:xfrm>
            <a:off x="812800" y="413512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E71"/>
                </a:solidFill>
                <a:latin typeface="IBM Plex Sans" pitchFamily="34" charset="0"/>
                <a:ea typeface="IBM Plex Sans" pitchFamily="34" charset="-122"/>
                <a:cs typeface="IBM Plex Sans" pitchFamily="34" charset="-120"/>
              </a:rPr>
              <a:t>Evaluated on CGMacros (45 patients) with leave-one-patient-out; intervals are 95% CIs from a patient-level bootstrap.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354339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EVIDENCE</a:t>
            </a:r>
            <a:endParaRPr lang="en-US" sz="1200" dirty="0"/>
          </a:p>
        </p:txBody>
      </p:sp>
      <p:sp>
        <p:nvSpPr>
          <p:cNvPr id="3" name="Text 1"/>
          <p:cNvSpPr/>
          <p:nvPr>
            <p:ph type="title"/>
          </p:nvPr>
        </p:nvSpPr>
        <p:spPr>
          <a:xfrm>
            <a:off x="812800" y="1102364"/>
            <a:ext cx="412823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Fusion ablation</a:t>
            </a:r>
            <a:endParaRPr lang="en-US" sz="3600" dirty="0"/>
          </a:p>
        </p:txBody>
      </p:sp>
      <p:sp>
        <p:nvSpPr>
          <p:cNvPr id="4" name="Text 2"/>
          <p:cNvSpPr/>
          <p:nvPr/>
        </p:nvSpPr>
        <p:spPr>
          <a:xfrm>
            <a:off x="8420656" y="1295400"/>
            <a:ext cx="2958544" cy="309880"/>
          </a:xfrm>
          <a:prstGeom prst="roundRect">
            <a:avLst>
              <a:gd name="adj" fmla="val 49180"/>
            </a:avLst>
          </a:prstGeom>
          <a:solidFill>
            <a:srgbClr val="F8E5D0"/>
          </a:solidFill>
          <a:ln/>
        </p:spPr>
        <p:txBody>
          <a:bodyPr wrap="none" lIns="0" tIns="0" rIns="0" bIns="0" rtlCol="0" anchor="ctr">
            <a:normAutofit/>
          </a:bodyPr>
          <a:lstStyle/>
          <a:p>
            <a:pPr algn="ctr" indent="0" marL="0">
              <a:lnSpc>
                <a:spcPts val="1440"/>
              </a:lnSpc>
              <a:buNone/>
            </a:pPr>
            <a:r>
              <a:rPr lang="en-US" sz="1200" b="1" dirty="0">
                <a:solidFill>
                  <a:srgbClr val="7A3A05"/>
                </a:solidFill>
                <a:latin typeface="IBM Plex Sans" pitchFamily="34" charset="0"/>
                <a:ea typeface="IBM Plex Sans" pitchFamily="34" charset="-122"/>
                <a:cs typeface="IBM Plex Sans" pitchFamily="34" charset="-120"/>
              </a:rPr>
              <a:t>Pending: fill from results/ablation.csv</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69439"/>
          <a:ext cx="10556240" cy="3495040"/>
        </p:xfrm>
        <a:graphic>
          <a:graphicData uri="http://schemas.openxmlformats.org/drawingml/2006/table">
            <a:tbl>
              <a:tblPr/>
              <a:tblGrid>
                <a:gridCol w="738937"/>
                <a:gridCol w="2111248"/>
                <a:gridCol w="3905809"/>
                <a:gridCol w="1266749"/>
                <a:gridCol w="1477874"/>
                <a:gridCol w="1055624"/>
              </a:tblGrid>
              <a:tr h="436880">
                <a:tc>
                  <a:txBody>
                    <a:bodyPr/>
                    <a:lstStyle/>
                    <a:p>
                      <a:pPr indent="0" marL="0">
                        <a:lnSpc>
                          <a:spcPts val="2240"/>
                        </a:lnSpc>
                        <a:buNone/>
                      </a:pPr>
                      <a:r>
                        <a:rPr lang="en-US" sz="1600" b="1" dirty="0">
                          <a:solidFill>
                            <a:srgbClr val="F5F3EC"/>
                          </a:solidFill>
                          <a:latin typeface="IBM Plex Sans" pitchFamily="34" charset="0"/>
                          <a:ea typeface="IBM Plex Sans" pitchFamily="34" charset="-122"/>
                          <a:cs typeface="IBM Plex Sans" pitchFamily="34" charset="-120"/>
                        </a:rPr>
                        <a:t>ID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EBB"/>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2240"/>
                        </a:lnSpc>
                        <a:buNone/>
                      </a:pPr>
                      <a:r>
                        <a:rPr lang="en-US" sz="1600" b="1" dirty="0">
                          <a:solidFill>
                            <a:srgbClr val="F5F3EC"/>
                          </a:solidFill>
                          <a:latin typeface="IBM Plex Sans" pitchFamily="34" charset="0"/>
                          <a:ea typeface="IBM Plex Sans" pitchFamily="34" charset="-122"/>
                          <a:cs typeface="IBM Plex Sans" pitchFamily="34" charset="-120"/>
                        </a:rPr>
                        <a:t>Model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2240"/>
                        </a:lnSpc>
                        <a:buNone/>
                      </a:pPr>
                      <a:r>
                        <a:rPr lang="en-US" sz="1600" b="1" dirty="0">
                          <a:solidFill>
                            <a:srgbClr val="F5F3EC"/>
                          </a:solidFill>
                          <a:latin typeface="IBM Plex Sans" pitchFamily="34" charset="0"/>
                          <a:ea typeface="IBM Plex Sans" pitchFamily="34" charset="-122"/>
                          <a:cs typeface="IBM Plex Sans" pitchFamily="34" charset="-120"/>
                        </a:rPr>
                        <a:t>Data used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2240"/>
                        </a:lnSpc>
                        <a:buNone/>
                      </a:pPr>
                      <a:r>
                        <a:rPr lang="en-US" sz="1600" b="1" dirty="0">
                          <a:solidFill>
                            <a:srgbClr val="F5F3EC"/>
                          </a:solidFill>
                          <a:latin typeface="IBM Plex Sans" pitchFamily="34" charset="0"/>
                          <a:ea typeface="IBM Plex Sans" pitchFamily="34" charset="-122"/>
                          <a:cs typeface="IBM Plex Sans" pitchFamily="34" charset="-120"/>
                        </a:rPr>
                        <a:t>PR-AUC</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2240"/>
                        </a:lnSpc>
                        <a:buNone/>
                      </a:pPr>
                      <a:r>
                        <a:rPr lang="en-US" sz="1600" b="1" dirty="0">
                          <a:solidFill>
                            <a:srgbClr val="F5F3EC"/>
                          </a:solidFill>
                          <a:latin typeface="IBM Plex Sans" pitchFamily="34" charset="0"/>
                          <a:ea typeface="IBM Plex Sans" pitchFamily="34" charset="-122"/>
                          <a:cs typeface="IBM Plex Sans" pitchFamily="34" charset="-120"/>
                        </a:rPr>
                        <a:t>Sens.*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2240"/>
                        </a:lnSpc>
                        <a:buNone/>
                      </a:pPr>
                      <a:r>
                        <a:rPr lang="en-US" sz="1600" b="1" dirty="0">
                          <a:solidFill>
                            <a:srgbClr val="F5F3EC"/>
                          </a:solidFill>
                          <a:latin typeface="IBM Plex Sans" pitchFamily="34" charset="0"/>
                          <a:ea typeface="IBM Plex Sans" pitchFamily="34" charset="-122"/>
                          <a:cs typeface="IBM Plex Sans" pitchFamily="34" charset="-120"/>
                        </a:rPr>
                        <a:t>Brier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r>
              <a:tr h="436880">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B0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Trend baseline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Last 30 min of glucose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436880">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B1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CGM only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CGM</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436880">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B2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 meals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CGM + meals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436880">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B3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 wearables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CGM + meals + wearables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436880">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B4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 EHR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CGM + meals + EHR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436880">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B5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EBB"/>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Full fusion</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CGM + meals + wearables + EHR</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r>
              <a:tr h="436880">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B6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EBB"/>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A9B9B8"/>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10292E"/>
                          </a:solidFill>
                          <a:latin typeface="IBM Plex Sans" pitchFamily="34" charset="0"/>
                          <a:ea typeface="IBM Plex Sans" pitchFamily="34" charset="-122"/>
                          <a:cs typeface="IBM Plex Sans" pitchFamily="34" charset="-120"/>
                        </a:rPr>
                        <a:t>+ twin state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A9B9B8"/>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34484C"/>
                          </a:solidFill>
                          <a:latin typeface="IBM Plex Sans" pitchFamily="34" charset="0"/>
                          <a:ea typeface="IBM Plex Sans" pitchFamily="34" charset="-122"/>
                          <a:cs typeface="IBM Plex Sans" pitchFamily="34" charset="-120"/>
                        </a:rPr>
                        <a:t>B5 + fitted physiology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A9B9B8"/>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A9B9B8"/>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A9B9B8"/>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c>
                  <a:txBody>
                    <a:bodyPr/>
                    <a:lstStyle/>
                    <a:p>
                      <a:pPr indent="0" marL="0">
                        <a:lnSpc>
                          <a:spcPts val="2240"/>
                        </a:lnSpc>
                        <a:buNone/>
                      </a:pPr>
                      <a:r>
                        <a:rPr lang="en-US" sz="1600" dirty="0">
                          <a:solidFill>
                            <a:srgbClr val="9C4A07"/>
                          </a:solidFill>
                          <a:latin typeface="IBM Plex Sans" pitchFamily="34" charset="0"/>
                          <a:ea typeface="IBM Plex Sans" pitchFamily="34" charset="-122"/>
                          <a:cs typeface="IBM Plex Sans" pitchFamily="34" charset="-120"/>
                        </a:rPr>
                        <a:t>[__]</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A9B9B8"/>
                      </a:solidFill>
                      <a:prstDash val="solid"/>
                      <a:round/>
                      <a:headEnd type="none" w="med" len="med"/>
                      <a:tailEnd type="none" w="med" len="med"/>
                    </a:lnL>
                    <a:lnR w="12700" cap="flat" cmpd="sng" algn="ctr">
                      <a:solidFill>
                        <a:srgbClr val="A9B9B8"/>
                      </a:solidFill>
                      <a:prstDash val="solid"/>
                      <a:round/>
                      <a:headEnd type="none" w="med" len="med"/>
                      <a:tailEnd type="none" w="med" len="med"/>
                    </a:lnR>
                    <a:lnT w="12700" cap="flat" cmpd="sng" algn="ctr">
                      <a:solidFill>
                        <a:srgbClr val="A9B9B8"/>
                      </a:solidFill>
                      <a:prstDash val="solid"/>
                      <a:round/>
                      <a:headEnd type="none" w="med" len="med"/>
                      <a:tailEnd type="none" w="med" len="med"/>
                    </a:lnT>
                    <a:lnB w="12700" cap="flat" cmpd="sng" algn="ctr">
                      <a:solidFill>
                        <a:srgbClr val="A9B9B8"/>
                      </a:solidFill>
                      <a:prstDash val="solid"/>
                      <a:round/>
                      <a:headEnd type="none" w="med" len="med"/>
                      <a:tailEnd type="none" w="med" len="med"/>
                    </a:lnB>
                    <a:solidFill>
                      <a:srgbClr val="D3E7E6"/>
                    </a:solidFill>
                  </a:tcPr>
                </a:tc>
              </a:tr>
            </a:tbl>
          </a:graphicData>
        </a:graphic>
      </p:graphicFrame>
      <p:sp>
        <p:nvSpPr>
          <p:cNvPr id="6" name="Text 3"/>
          <p:cNvSpPr/>
          <p:nvPr/>
        </p:nvSpPr>
        <p:spPr>
          <a:xfrm>
            <a:off x="812800" y="56184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E71"/>
                </a:solidFill>
                <a:latin typeface="IBM Plex Sans" pitchFamily="34" charset="0"/>
                <a:ea typeface="IBM Plex Sans" pitchFamily="34" charset="-122"/>
                <a:cs typeface="IBM Plex Sans" pitchFamily="34" charset="-120"/>
              </a:rPr>
              <a:t>*Sens. = sensitivity at a fixed false-alert rate. Values from results/ablation.csv, with 95% CIs.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391808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EVIDENCE</a:t>
            </a:r>
            <a:endParaRPr lang="en-US" sz="1200" dirty="0"/>
          </a:p>
        </p:txBody>
      </p:sp>
      <p:sp>
        <p:nvSpPr>
          <p:cNvPr id="3" name="Text 1"/>
          <p:cNvSpPr/>
          <p:nvPr>
            <p:ph type="title"/>
          </p:nvPr>
        </p:nvSpPr>
        <p:spPr>
          <a:xfrm>
            <a:off x="812800" y="1102364"/>
            <a:ext cx="4564761"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Alerts in practice</a:t>
            </a:r>
            <a:endParaRPr lang="en-US" sz="3600" dirty="0"/>
          </a:p>
        </p:txBody>
      </p:sp>
      <p:sp>
        <p:nvSpPr>
          <p:cNvPr id="4" name="Text 2"/>
          <p:cNvSpPr/>
          <p:nvPr/>
        </p:nvSpPr>
        <p:spPr>
          <a:xfrm>
            <a:off x="8401765" y="1295400"/>
            <a:ext cx="2977436" cy="309880"/>
          </a:xfrm>
          <a:prstGeom prst="roundRect">
            <a:avLst>
              <a:gd name="adj" fmla="val 49180"/>
            </a:avLst>
          </a:prstGeom>
          <a:solidFill>
            <a:srgbClr val="F8E5D0"/>
          </a:solidFill>
          <a:ln/>
        </p:spPr>
        <p:txBody>
          <a:bodyPr wrap="none" lIns="0" tIns="0" rIns="0" bIns="0" rtlCol="0" anchor="ctr">
            <a:normAutofit/>
          </a:bodyPr>
          <a:lstStyle/>
          <a:p>
            <a:pPr algn="ctr" indent="0" marL="0">
              <a:lnSpc>
                <a:spcPts val="1440"/>
              </a:lnSpc>
              <a:buNone/>
            </a:pPr>
            <a:r>
              <a:rPr lang="en-US" sz="1200" b="1" dirty="0">
                <a:solidFill>
                  <a:srgbClr val="7A3A05"/>
                </a:solidFill>
                <a:latin typeface="IBM Plex Sans" pitchFamily="34" charset="0"/>
                <a:ea typeface="IBM Plex Sans" pitchFamily="34" charset="-122"/>
                <a:cs typeface="IBM Plex Sans" pitchFamily="34" charset="-120"/>
              </a:rPr>
              <a:t>Pending: fill from results/metrics.json</a:t>
            </a:r>
            <a:endParaRPr lang="en-US" sz="1200" dirty="0"/>
          </a:p>
        </p:txBody>
      </p:sp>
      <p:sp>
        <p:nvSpPr>
          <p:cNvPr id="5" name="Shape 3"/>
          <p:cNvSpPr/>
          <p:nvPr/>
        </p:nvSpPr>
        <p:spPr>
          <a:xfrm>
            <a:off x="819150" y="1865629"/>
            <a:ext cx="5067300" cy="2781300"/>
          </a:xfrm>
          <a:prstGeom prst="roundRect">
            <a:avLst>
              <a:gd name="adj" fmla="val 3425"/>
            </a:avLst>
          </a:prstGeom>
          <a:solidFill>
            <a:srgbClr val="FCFBF8"/>
          </a:solidFill>
          <a:ln w="12700">
            <a:solidFill>
              <a:srgbClr val="8FB0AE"/>
            </a:solidFill>
            <a:prstDash val="dash"/>
          </a:ln>
        </p:spPr>
      </p:sp>
      <p:sp>
        <p:nvSpPr>
          <p:cNvPr id="6" name="Text 4"/>
          <p:cNvSpPr/>
          <p:nvPr/>
        </p:nvSpPr>
        <p:spPr>
          <a:xfrm>
            <a:off x="2387346" y="2979421"/>
            <a:ext cx="1930908" cy="28956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10292E"/>
                </a:solidFill>
                <a:latin typeface="IBM Plex Sans" pitchFamily="34" charset="0"/>
                <a:ea typeface="IBM Plex Sans" pitchFamily="34" charset="-122"/>
                <a:cs typeface="IBM Plex Sans" pitchFamily="34" charset="-120"/>
              </a:rPr>
              <a:t>Calibration curve</a:t>
            </a:r>
            <a:endParaRPr lang="en-US" sz="1600" dirty="0"/>
          </a:p>
        </p:txBody>
      </p:sp>
      <p:sp>
        <p:nvSpPr>
          <p:cNvPr id="7" name="Text 5"/>
          <p:cNvSpPr/>
          <p:nvPr/>
        </p:nvSpPr>
        <p:spPr>
          <a:xfrm>
            <a:off x="1839087" y="3319779"/>
            <a:ext cx="302742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E71"/>
                </a:solidFill>
                <a:latin typeface="IBM Plex Sans" pitchFamily="34" charset="0"/>
                <a:ea typeface="IBM Plex Sans" pitchFamily="34" charset="-122"/>
                <a:cs typeface="IBM Plex Sans" pitchFamily="34" charset="-120"/>
              </a:rPr>
              <a:t>Insert results/figures/calibration.png</a:t>
            </a:r>
            <a:endParaRPr lang="en-US" sz="1200" dirty="0"/>
          </a:p>
        </p:txBody>
      </p:sp>
      <p:sp>
        <p:nvSpPr>
          <p:cNvPr id="8" name="Text 6"/>
          <p:cNvSpPr/>
          <p:nvPr/>
        </p:nvSpPr>
        <p:spPr>
          <a:xfrm>
            <a:off x="812800" y="4754879"/>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Predicted probability against observed frequency, pooled out-of-fold predictions.</a:t>
            </a:r>
            <a:endParaRPr lang="en-US" sz="1200" dirty="0"/>
          </a:p>
        </p:txBody>
      </p:sp>
      <p:sp>
        <p:nvSpPr>
          <p:cNvPr id="9" name="Text 7"/>
          <p:cNvSpPr/>
          <p:nvPr/>
        </p:nvSpPr>
        <p:spPr>
          <a:xfrm>
            <a:off x="6197600" y="1859279"/>
            <a:ext cx="533704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Event-level detection</a:t>
            </a:r>
            <a:endParaRPr lang="en-US" sz="2200" dirty="0"/>
          </a:p>
        </p:txBody>
      </p:sp>
      <p:sp>
        <p:nvSpPr>
          <p:cNvPr id="10" name="Shape 8"/>
          <p:cNvSpPr/>
          <p:nvPr/>
        </p:nvSpPr>
        <p:spPr>
          <a:xfrm>
            <a:off x="6197600" y="2350139"/>
            <a:ext cx="5181600" cy="0"/>
          </a:xfrm>
          <a:prstGeom prst="line">
            <a:avLst/>
          </a:prstGeom>
          <a:noFill/>
          <a:ln w="6350">
            <a:solidFill>
              <a:srgbClr val="D5D8CF"/>
            </a:solidFill>
            <a:prstDash val="solid"/>
          </a:ln>
        </p:spPr>
      </p:sp>
      <p:sp>
        <p:nvSpPr>
          <p:cNvPr id="11" name="Text 9"/>
          <p:cNvSpPr/>
          <p:nvPr/>
        </p:nvSpPr>
        <p:spPr>
          <a:xfrm>
            <a:off x="6197600" y="2491742"/>
            <a:ext cx="183134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C4A07"/>
                </a:solidFill>
                <a:latin typeface="Source Serif 4" pitchFamily="18" charset="0"/>
                <a:ea typeface="Source Serif 4" pitchFamily="18" charset="-122"/>
                <a:cs typeface="Source Serif 4" pitchFamily="18" charset="-120"/>
              </a:rPr>
              <a:t>[__%]</a:t>
            </a:r>
            <a:endParaRPr lang="en-US" sz="3600" dirty="0"/>
          </a:p>
        </p:txBody>
      </p:sp>
      <p:sp>
        <p:nvSpPr>
          <p:cNvPr id="12" name="Text 10"/>
          <p:cNvSpPr/>
          <p:nvPr/>
        </p:nvSpPr>
        <p:spPr>
          <a:xfrm>
            <a:off x="8128000" y="2479042"/>
            <a:ext cx="334873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of excursions detected 15 to 120 minutes ahead</a:t>
            </a:r>
            <a:endParaRPr lang="en-US" sz="1600" dirty="0"/>
          </a:p>
        </p:txBody>
      </p:sp>
      <p:sp>
        <p:nvSpPr>
          <p:cNvPr id="13" name="Shape 11"/>
          <p:cNvSpPr/>
          <p:nvPr/>
        </p:nvSpPr>
        <p:spPr>
          <a:xfrm>
            <a:off x="6197600" y="3162939"/>
            <a:ext cx="5181600" cy="0"/>
          </a:xfrm>
          <a:prstGeom prst="line">
            <a:avLst/>
          </a:prstGeom>
          <a:noFill/>
          <a:ln w="6350">
            <a:solidFill>
              <a:srgbClr val="D5D8CF"/>
            </a:solidFill>
            <a:prstDash val="solid"/>
          </a:ln>
        </p:spPr>
      </p:sp>
      <p:sp>
        <p:nvSpPr>
          <p:cNvPr id="14" name="Text 12"/>
          <p:cNvSpPr/>
          <p:nvPr/>
        </p:nvSpPr>
        <p:spPr>
          <a:xfrm>
            <a:off x="6197600" y="3291842"/>
            <a:ext cx="183134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C4A07"/>
                </a:solidFill>
                <a:latin typeface="Source Serif 4" pitchFamily="18" charset="0"/>
                <a:ea typeface="Source Serif 4" pitchFamily="18" charset="-122"/>
                <a:cs typeface="Source Serif 4" pitchFamily="18" charset="-120"/>
              </a:rPr>
              <a:t>[__]</a:t>
            </a:r>
            <a:endParaRPr lang="en-US" sz="3600" dirty="0"/>
          </a:p>
        </p:txBody>
      </p:sp>
      <p:sp>
        <p:nvSpPr>
          <p:cNvPr id="15" name="Text 13"/>
          <p:cNvSpPr/>
          <p:nvPr/>
        </p:nvSpPr>
        <p:spPr>
          <a:xfrm>
            <a:off x="8128000" y="3411221"/>
            <a:ext cx="3348736"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false alerts per patient-day</a:t>
            </a:r>
            <a:endParaRPr lang="en-US" sz="1600" dirty="0"/>
          </a:p>
        </p:txBody>
      </p:sp>
      <p:sp>
        <p:nvSpPr>
          <p:cNvPr id="16" name="Shape 14"/>
          <p:cNvSpPr/>
          <p:nvPr/>
        </p:nvSpPr>
        <p:spPr>
          <a:xfrm>
            <a:off x="6197600" y="3950339"/>
            <a:ext cx="5181600" cy="0"/>
          </a:xfrm>
          <a:prstGeom prst="line">
            <a:avLst/>
          </a:prstGeom>
          <a:noFill/>
          <a:ln w="6350">
            <a:solidFill>
              <a:srgbClr val="D5D8CF"/>
            </a:solidFill>
            <a:prstDash val="solid"/>
          </a:ln>
        </p:spPr>
      </p:sp>
      <p:sp>
        <p:nvSpPr>
          <p:cNvPr id="17" name="Text 15"/>
          <p:cNvSpPr/>
          <p:nvPr/>
        </p:nvSpPr>
        <p:spPr>
          <a:xfrm>
            <a:off x="6197600" y="4079242"/>
            <a:ext cx="1831340"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C4A07"/>
                </a:solidFill>
                <a:latin typeface="Source Serif 4" pitchFamily="18" charset="0"/>
                <a:ea typeface="Source Serif 4" pitchFamily="18" charset="-122"/>
                <a:cs typeface="Source Serif 4" pitchFamily="18" charset="-120"/>
              </a:rPr>
              <a:t>[__]</a:t>
            </a:r>
            <a:endParaRPr lang="en-US" sz="3600" dirty="0"/>
          </a:p>
        </p:txBody>
      </p:sp>
      <p:sp>
        <p:nvSpPr>
          <p:cNvPr id="18" name="Text 16"/>
          <p:cNvSpPr/>
          <p:nvPr/>
        </p:nvSpPr>
        <p:spPr>
          <a:xfrm>
            <a:off x="8128000" y="4198621"/>
            <a:ext cx="3348736"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minutes of median lead time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483351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EVIDENCE</a:t>
            </a:r>
            <a:endParaRPr lang="en-US" sz="1200" dirty="0"/>
          </a:p>
        </p:txBody>
      </p:sp>
      <p:sp>
        <p:nvSpPr>
          <p:cNvPr id="3" name="Text 1"/>
          <p:cNvSpPr/>
          <p:nvPr>
            <p:ph type="title"/>
          </p:nvPr>
        </p:nvSpPr>
        <p:spPr>
          <a:xfrm>
            <a:off x="812800" y="1102364"/>
            <a:ext cx="5631275"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Explaining each alert</a:t>
            </a:r>
            <a:endParaRPr lang="en-US" sz="3600" dirty="0"/>
          </a:p>
        </p:txBody>
      </p:sp>
      <p:sp>
        <p:nvSpPr>
          <p:cNvPr id="4" name="Text 2"/>
          <p:cNvSpPr/>
          <p:nvPr/>
        </p:nvSpPr>
        <p:spPr>
          <a:xfrm>
            <a:off x="8784749" y="1295400"/>
            <a:ext cx="2594451" cy="309880"/>
          </a:xfrm>
          <a:prstGeom prst="roundRect">
            <a:avLst>
              <a:gd name="adj" fmla="val 49180"/>
            </a:avLst>
          </a:prstGeom>
          <a:solidFill>
            <a:srgbClr val="F8E5D0"/>
          </a:solidFill>
          <a:ln/>
        </p:spPr>
        <p:txBody>
          <a:bodyPr wrap="none" lIns="0" tIns="0" rIns="0" bIns="0" rtlCol="0" anchor="ctr">
            <a:normAutofit/>
          </a:bodyPr>
          <a:lstStyle/>
          <a:p>
            <a:pPr algn="ctr" indent="0" marL="0">
              <a:lnSpc>
                <a:spcPts val="1440"/>
              </a:lnSpc>
              <a:buNone/>
            </a:pPr>
            <a:r>
              <a:rPr lang="en-US" sz="1200" b="1" dirty="0">
                <a:solidFill>
                  <a:srgbClr val="7A3A05"/>
                </a:solidFill>
                <a:latin typeface="IBM Plex Sans" pitchFamily="34" charset="0"/>
                <a:ea typeface="IBM Plex Sans" pitchFamily="34" charset="-122"/>
                <a:cs typeface="IBM Plex Sans" pitchFamily="34" charset="-120"/>
              </a:rPr>
              <a:t>Pending: fill from results/figures</a:t>
            </a:r>
            <a:endParaRPr lang="en-US" sz="1200" dirty="0"/>
          </a:p>
        </p:txBody>
      </p:sp>
      <p:sp>
        <p:nvSpPr>
          <p:cNvPr id="5" name="Shape 3"/>
          <p:cNvSpPr/>
          <p:nvPr/>
        </p:nvSpPr>
        <p:spPr>
          <a:xfrm>
            <a:off x="819150" y="1865629"/>
            <a:ext cx="5067300" cy="2781300"/>
          </a:xfrm>
          <a:prstGeom prst="roundRect">
            <a:avLst>
              <a:gd name="adj" fmla="val 3425"/>
            </a:avLst>
          </a:prstGeom>
          <a:solidFill>
            <a:srgbClr val="FCFBF8"/>
          </a:solidFill>
          <a:ln w="12700">
            <a:solidFill>
              <a:srgbClr val="8FB0AE"/>
            </a:solidFill>
            <a:prstDash val="dash"/>
          </a:ln>
        </p:spPr>
      </p:sp>
      <p:sp>
        <p:nvSpPr>
          <p:cNvPr id="6" name="Text 4"/>
          <p:cNvSpPr/>
          <p:nvPr/>
        </p:nvSpPr>
        <p:spPr>
          <a:xfrm>
            <a:off x="2471745" y="2979421"/>
            <a:ext cx="1762030" cy="289560"/>
          </a:xfrm>
          <a:prstGeom prst="rect">
            <a:avLst/>
          </a:prstGeom>
          <a:noFill/>
          <a:ln/>
        </p:spPr>
        <p:txBody>
          <a:bodyPr wrap="square" lIns="0" tIns="0" rIns="0" bIns="0" rtlCol="0" anchor="t">
            <a:normAutofit/>
          </a:bodyPr>
          <a:lstStyle/>
          <a:p>
            <a:pPr algn="ctr" indent="0" marL="0">
              <a:lnSpc>
                <a:spcPts val="2080"/>
              </a:lnSpc>
              <a:buNone/>
            </a:pPr>
            <a:r>
              <a:rPr lang="en-US" sz="1600" b="1" dirty="0">
                <a:solidFill>
                  <a:srgbClr val="10292E"/>
                </a:solidFill>
                <a:latin typeface="IBM Plex Sans" pitchFamily="34" charset="0"/>
                <a:ea typeface="IBM Plex Sans" pitchFamily="34" charset="-122"/>
                <a:cs typeface="IBM Plex Sans" pitchFamily="34" charset="-120"/>
              </a:rPr>
              <a:t>SHAP summary</a:t>
            </a:r>
            <a:endParaRPr lang="en-US" sz="1600" dirty="0"/>
          </a:p>
        </p:txBody>
      </p:sp>
      <p:sp>
        <p:nvSpPr>
          <p:cNvPr id="7" name="Text 5"/>
          <p:cNvSpPr/>
          <p:nvPr/>
        </p:nvSpPr>
        <p:spPr>
          <a:xfrm>
            <a:off x="1652024" y="3319779"/>
            <a:ext cx="340147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E71"/>
                </a:solidFill>
                <a:latin typeface="IBM Plex Sans" pitchFamily="34" charset="0"/>
                <a:ea typeface="IBM Plex Sans" pitchFamily="34" charset="-122"/>
                <a:cs typeface="IBM Plex Sans" pitchFamily="34" charset="-120"/>
              </a:rPr>
              <a:t>Insert results/figures/shap_summary.png</a:t>
            </a:r>
            <a:endParaRPr lang="en-US" sz="1200" dirty="0"/>
          </a:p>
        </p:txBody>
      </p:sp>
      <p:sp>
        <p:nvSpPr>
          <p:cNvPr id="8" name="Text 6"/>
          <p:cNvSpPr/>
          <p:nvPr/>
        </p:nvSpPr>
        <p:spPr>
          <a:xfrm>
            <a:off x="812800" y="475487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Which features push predicted risk up or down, across all predictions.</a:t>
            </a:r>
            <a:endParaRPr lang="en-US" sz="1200" dirty="0"/>
          </a:p>
        </p:txBody>
      </p:sp>
      <p:sp>
        <p:nvSpPr>
          <p:cNvPr id="9" name="Text 7"/>
          <p:cNvSpPr/>
          <p:nvPr/>
        </p:nvSpPr>
        <p:spPr>
          <a:xfrm>
            <a:off x="6197600" y="1859279"/>
            <a:ext cx="533704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Drivers in plain English</a:t>
            </a:r>
            <a:endParaRPr lang="en-US" sz="2200" dirty="0"/>
          </a:p>
        </p:txBody>
      </p:sp>
      <p:sp>
        <p:nvSpPr>
          <p:cNvPr id="10" name="Shape 8"/>
          <p:cNvSpPr/>
          <p:nvPr/>
        </p:nvSpPr>
        <p:spPr>
          <a:xfrm>
            <a:off x="6197600" y="2346964"/>
            <a:ext cx="5181600" cy="1549400"/>
          </a:xfrm>
          <a:prstGeom prst="roundRect">
            <a:avLst>
              <a:gd name="adj" fmla="val 6557"/>
            </a:avLst>
          </a:prstGeom>
          <a:solidFill>
            <a:srgbClr val="0F2B30"/>
          </a:solidFill>
          <a:ln/>
        </p:spPr>
      </p:sp>
      <p:sp>
        <p:nvSpPr>
          <p:cNvPr id="11" name="Text 9"/>
          <p:cNvSpPr/>
          <p:nvPr/>
        </p:nvSpPr>
        <p:spPr>
          <a:xfrm>
            <a:off x="6400800" y="2550164"/>
            <a:ext cx="49184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65A"/>
                </a:solidFill>
                <a:latin typeface="IBM Plex Sans" pitchFamily="34" charset="0"/>
                <a:ea typeface="IBM Plex Sans" pitchFamily="34" charset="-122"/>
                <a:cs typeface="IBM Plex Sans" pitchFamily="34" charset="-120"/>
              </a:rPr>
              <a:t>EXAMPLE FORMAT</a:t>
            </a:r>
            <a:endParaRPr lang="en-US" sz="1200" dirty="0"/>
          </a:p>
        </p:txBody>
      </p:sp>
      <p:sp>
        <p:nvSpPr>
          <p:cNvPr id="12" name="Text 10"/>
          <p:cNvSpPr/>
          <p:nvPr/>
        </p:nvSpPr>
        <p:spPr>
          <a:xfrm>
            <a:off x="6400800" y="2839721"/>
            <a:ext cx="4918456"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3EC"/>
                </a:solidFill>
                <a:latin typeface="IBM Plex Sans" pitchFamily="34" charset="0"/>
                <a:ea typeface="IBM Plex Sans" pitchFamily="34" charset="-122"/>
                <a:cs typeface="IBM Plex Sans" pitchFamily="34" charset="-120"/>
              </a:rPr>
              <a:t>Risk is </a:t>
            </a:r>
            <a:r>
              <a:rPr lang="en-US" sz="1600" dirty="0">
                <a:solidFill>
                  <a:srgbClr val="F2A65A"/>
                </a:solidFill>
                <a:latin typeface="IBM Plex Sans" pitchFamily="34" charset="0"/>
                <a:ea typeface="IBM Plex Sans" pitchFamily="34" charset="-122"/>
                <a:cs typeface="IBM Plex Sans" pitchFamily="34" charset="-120"/>
              </a:rPr>
              <a:t>[__]%</a:t>
            </a:r>
            <a:r>
              <a:rPr lang="en-US" sz="1600" dirty="0">
                <a:solidFill>
                  <a:srgbClr val="F5F3EC"/>
                </a:solidFill>
                <a:latin typeface="IBM Plex Sans" pitchFamily="34" charset="0"/>
                <a:ea typeface="IBM Plex Sans" pitchFamily="34" charset="-122"/>
                <a:cs typeface="IBM Plex Sans" pitchFamily="34" charset="-120"/>
              </a:rPr>
              <a:t> because the last meal had </a:t>
            </a:r>
            <a:r>
              <a:rPr lang="en-US" sz="1600" dirty="0">
                <a:solidFill>
                  <a:srgbClr val="F2A65A"/>
                </a:solidFill>
                <a:latin typeface="IBM Plex Sans" pitchFamily="34" charset="0"/>
                <a:ea typeface="IBM Plex Sans" pitchFamily="34" charset="-122"/>
                <a:cs typeface="IBM Plex Sans" pitchFamily="34" charset="-120"/>
              </a:rPr>
              <a:t>[__]</a:t>
            </a:r>
            <a:r>
              <a:rPr lang="en-US" sz="1600" dirty="0">
                <a:solidFill>
                  <a:srgbClr val="F5F3EC"/>
                </a:solidFill>
                <a:latin typeface="IBM Plex Sans" pitchFamily="34" charset="0"/>
                <a:ea typeface="IBM Plex Sans" pitchFamily="34" charset="-122"/>
                <a:cs typeface="IBM Plex Sans" pitchFamily="34" charset="-120"/>
              </a:rPr>
              <a:t> g of carbohydrate </a:t>
            </a:r>
            <a:r>
              <a:rPr lang="en-US" sz="1600" dirty="0">
                <a:solidFill>
                  <a:srgbClr val="F2A65A"/>
                </a:solidFill>
                <a:latin typeface="IBM Plex Sans" pitchFamily="34" charset="0"/>
                <a:ea typeface="IBM Plex Sans" pitchFamily="34" charset="-122"/>
                <a:cs typeface="IBM Plex Sans" pitchFamily="34" charset="-120"/>
              </a:rPr>
              <a:t>[__]</a:t>
            </a:r>
            <a:r>
              <a:rPr lang="en-US" sz="1600" dirty="0">
                <a:solidFill>
                  <a:srgbClr val="F5F3EC"/>
                </a:solidFill>
                <a:latin typeface="IBM Plex Sans" pitchFamily="34" charset="0"/>
                <a:ea typeface="IBM Plex Sans" pitchFamily="34" charset="-122"/>
                <a:cs typeface="IBM Plex Sans" pitchFamily="34" charset="-120"/>
              </a:rPr>
              <a:t> minutes ago and glucose is rising </a:t>
            </a:r>
            <a:r>
              <a:rPr lang="en-US" sz="1600" dirty="0">
                <a:solidFill>
                  <a:srgbClr val="F2A65A"/>
                </a:solidFill>
                <a:latin typeface="IBM Plex Sans" pitchFamily="34" charset="0"/>
                <a:ea typeface="IBM Plex Sans" pitchFamily="34" charset="-122"/>
                <a:cs typeface="IBM Plex Sans" pitchFamily="34" charset="-120"/>
              </a:rPr>
              <a:t>[__]</a:t>
            </a:r>
            <a:r>
              <a:rPr lang="en-US" sz="1600" dirty="0">
                <a:solidFill>
                  <a:srgbClr val="F5F3EC"/>
                </a:solidFill>
                <a:latin typeface="IBM Plex Sans" pitchFamily="34" charset="0"/>
                <a:ea typeface="IBM Plex Sans" pitchFamily="34" charset="-122"/>
                <a:cs typeface="IBM Plex Sans" pitchFamily="34" charset="-120"/>
              </a:rPr>
              <a:t> mg/dL per 15 minutes.</a:t>
            </a:r>
            <a:endParaRPr lang="en-US" sz="1600" dirty="0"/>
          </a:p>
        </p:txBody>
      </p:sp>
      <p:sp>
        <p:nvSpPr>
          <p:cNvPr id="13" name="Text 11"/>
          <p:cNvSpPr/>
          <p:nvPr/>
        </p:nvSpPr>
        <p:spPr>
          <a:xfrm>
            <a:off x="6197600" y="4048764"/>
            <a:ext cx="53370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Drivers come from SHAP values and are worded the same way in the dashboard risk card.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DOCTOR EXPERIENCE</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What-if engine</a:t>
            </a:r>
            <a:endParaRPr lang="en-US" sz="3600" dirty="0"/>
          </a:p>
        </p:txBody>
      </p:sp>
      <p:sp>
        <p:nvSpPr>
          <p:cNvPr id="4" name="Shape 2"/>
          <p:cNvSpPr/>
          <p:nvPr/>
        </p:nvSpPr>
        <p:spPr>
          <a:xfrm>
            <a:off x="815975" y="1811654"/>
            <a:ext cx="3380264" cy="1563370"/>
          </a:xfrm>
          <a:prstGeom prst="roundRect">
            <a:avLst>
              <a:gd name="adj" fmla="val 6296"/>
            </a:avLst>
          </a:prstGeom>
          <a:solidFill>
            <a:srgbClr val="FCFBF8"/>
          </a:solidFill>
          <a:ln w="6350">
            <a:solidFill>
              <a:srgbClr val="D5D8CF"/>
            </a:solidFill>
            <a:prstDash val="solid"/>
          </a:ln>
        </p:spPr>
      </p:sp>
      <p:sp>
        <p:nvSpPr>
          <p:cNvPr id="5" name="Text 3"/>
          <p:cNvSpPr/>
          <p:nvPr/>
        </p:nvSpPr>
        <p:spPr>
          <a:xfrm>
            <a:off x="1071880" y="2067564"/>
            <a:ext cx="295450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Swap the meal</a:t>
            </a:r>
            <a:endParaRPr lang="en-US" sz="2200" dirty="0"/>
          </a:p>
        </p:txBody>
      </p:sp>
      <p:sp>
        <p:nvSpPr>
          <p:cNvPr id="6" name="Text 4"/>
          <p:cNvSpPr/>
          <p:nvPr/>
        </p:nvSpPr>
        <p:spPr>
          <a:xfrm>
            <a:off x="1071880" y="2479042"/>
            <a:ext cx="29545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Replace the next meal with a preset Indian meal, such as idli, poha, roti with dal, or rice.</a:t>
            </a:r>
            <a:endParaRPr lang="en-US" sz="1200" dirty="0"/>
          </a:p>
        </p:txBody>
      </p:sp>
      <p:sp>
        <p:nvSpPr>
          <p:cNvPr id="7" name="Shape 5"/>
          <p:cNvSpPr/>
          <p:nvPr/>
        </p:nvSpPr>
        <p:spPr>
          <a:xfrm>
            <a:off x="4405789" y="1811654"/>
            <a:ext cx="3380343" cy="1563370"/>
          </a:xfrm>
          <a:prstGeom prst="roundRect">
            <a:avLst>
              <a:gd name="adj" fmla="val 6296"/>
            </a:avLst>
          </a:prstGeom>
          <a:solidFill>
            <a:srgbClr val="FCFBF8"/>
          </a:solidFill>
          <a:ln w="6350">
            <a:solidFill>
              <a:srgbClr val="D5D8CF"/>
            </a:solidFill>
            <a:prstDash val="solid"/>
          </a:ln>
        </p:spPr>
      </p:sp>
      <p:sp>
        <p:nvSpPr>
          <p:cNvPr id="8" name="Text 6"/>
          <p:cNvSpPr/>
          <p:nvPr/>
        </p:nvSpPr>
        <p:spPr>
          <a:xfrm>
            <a:off x="4661694" y="2067564"/>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Add a walk</a:t>
            </a:r>
            <a:endParaRPr lang="en-US" sz="2200" dirty="0"/>
          </a:p>
        </p:txBody>
      </p:sp>
      <p:sp>
        <p:nvSpPr>
          <p:cNvPr id="9" name="Text 7"/>
          <p:cNvSpPr/>
          <p:nvPr/>
        </p:nvSpPr>
        <p:spPr>
          <a:xfrm>
            <a:off x="4661694" y="2479042"/>
            <a:ext cx="29545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Add a short walk after the meal and see how the predicted peak changes.</a:t>
            </a:r>
            <a:endParaRPr lang="en-US" sz="1200" dirty="0"/>
          </a:p>
        </p:txBody>
      </p:sp>
      <p:sp>
        <p:nvSpPr>
          <p:cNvPr id="10" name="Shape 8"/>
          <p:cNvSpPr/>
          <p:nvPr/>
        </p:nvSpPr>
        <p:spPr>
          <a:xfrm>
            <a:off x="7995682" y="1811654"/>
            <a:ext cx="3380343" cy="1563370"/>
          </a:xfrm>
          <a:prstGeom prst="roundRect">
            <a:avLst>
              <a:gd name="adj" fmla="val 6296"/>
            </a:avLst>
          </a:prstGeom>
          <a:solidFill>
            <a:srgbClr val="FCFBF8"/>
          </a:solidFill>
          <a:ln w="6350">
            <a:solidFill>
              <a:srgbClr val="D5D8CF"/>
            </a:solidFill>
            <a:prstDash val="solid"/>
          </a:ln>
        </p:spPr>
      </p:sp>
      <p:sp>
        <p:nvSpPr>
          <p:cNvPr id="11" name="Text 9"/>
          <p:cNvSpPr/>
          <p:nvPr/>
        </p:nvSpPr>
        <p:spPr>
          <a:xfrm>
            <a:off x="8251587" y="2067564"/>
            <a:ext cx="2954589"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Shift dinner</a:t>
            </a:r>
            <a:endParaRPr lang="en-US" sz="2200" dirty="0"/>
          </a:p>
        </p:txBody>
      </p:sp>
      <p:sp>
        <p:nvSpPr>
          <p:cNvPr id="12" name="Text 10"/>
          <p:cNvSpPr/>
          <p:nvPr/>
        </p:nvSpPr>
        <p:spPr>
          <a:xfrm>
            <a:off x="8251587" y="2479042"/>
            <a:ext cx="29545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Move the dinner time and see how the forecast changes.</a:t>
            </a:r>
            <a:endParaRPr lang="en-US" sz="1200" dirty="0"/>
          </a:p>
        </p:txBody>
      </p:sp>
      <p:sp>
        <p:nvSpPr>
          <p:cNvPr id="13" name="Text 11"/>
          <p:cNvSpPr/>
          <p:nvPr/>
        </p:nvSpPr>
        <p:spPr>
          <a:xfrm>
            <a:off x="812800" y="3632200"/>
            <a:ext cx="121626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5B6E71"/>
                </a:solidFill>
                <a:latin typeface="IBM Plex Sans" pitchFamily="34" charset="0"/>
                <a:ea typeface="IBM Plex Sans" pitchFamily="34" charset="-122"/>
                <a:cs typeface="IBM Plex Sans" pitchFamily="34" charset="-120"/>
              </a:rPr>
              <a:t>The doctor sees</a:t>
            </a:r>
            <a:endParaRPr lang="en-US" sz="1200" dirty="0"/>
          </a:p>
        </p:txBody>
      </p:sp>
      <p:sp>
        <p:nvSpPr>
          <p:cNvPr id="14" name="Text 12"/>
          <p:cNvSpPr/>
          <p:nvPr/>
        </p:nvSpPr>
        <p:spPr>
          <a:xfrm>
            <a:off x="2029063" y="3581400"/>
            <a:ext cx="1741249"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Counterfactual curve</a:t>
            </a:r>
            <a:endParaRPr lang="en-US" sz="1200" dirty="0"/>
          </a:p>
        </p:txBody>
      </p:sp>
      <p:sp>
        <p:nvSpPr>
          <p:cNvPr id="15" name="Text 13"/>
          <p:cNvSpPr/>
          <p:nvPr/>
        </p:nvSpPr>
        <p:spPr>
          <a:xfrm>
            <a:off x="3871913" y="3581400"/>
            <a:ext cx="2050256"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Change in predicted peak</a:t>
            </a:r>
            <a:endParaRPr lang="en-US" sz="1200" dirty="0"/>
          </a:p>
        </p:txBody>
      </p:sp>
      <p:sp>
        <p:nvSpPr>
          <p:cNvPr id="16" name="Text 14"/>
          <p:cNvSpPr/>
          <p:nvPr/>
        </p:nvSpPr>
        <p:spPr>
          <a:xfrm>
            <a:off x="6023769" y="3581400"/>
            <a:ext cx="1250394"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Change in risk</a:t>
            </a:r>
            <a:endParaRPr lang="en-US" sz="1200" dirty="0"/>
          </a:p>
        </p:txBody>
      </p:sp>
      <p:sp>
        <p:nvSpPr>
          <p:cNvPr id="17" name="Text 15"/>
          <p:cNvSpPr/>
          <p:nvPr/>
        </p:nvSpPr>
        <p:spPr>
          <a:xfrm>
            <a:off x="7375763" y="3581400"/>
            <a:ext cx="1475819"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Uncertainty band</a:t>
            </a:r>
            <a:endParaRPr lang="en-US" sz="1200" dirty="0"/>
          </a:p>
        </p:txBody>
      </p:sp>
      <p:sp>
        <p:nvSpPr>
          <p:cNvPr id="18" name="Shape 16"/>
          <p:cNvSpPr/>
          <p:nvPr/>
        </p:nvSpPr>
        <p:spPr>
          <a:xfrm>
            <a:off x="812800" y="4069079"/>
            <a:ext cx="10566400" cy="1097280"/>
          </a:xfrm>
          <a:prstGeom prst="roundRect">
            <a:avLst>
              <a:gd name="adj" fmla="val 9259"/>
            </a:avLst>
          </a:prstGeom>
          <a:solidFill>
            <a:srgbClr val="F8E5D0"/>
          </a:solidFill>
          <a:ln/>
        </p:spPr>
      </p:sp>
      <p:sp>
        <p:nvSpPr>
          <p:cNvPr id="19" name="Text 17"/>
          <p:cNvSpPr/>
          <p:nvPr/>
        </p:nvSpPr>
        <p:spPr>
          <a:xfrm>
            <a:off x="1041400" y="4246879"/>
            <a:ext cx="1041247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7A3A05"/>
                </a:solidFill>
                <a:latin typeface="IBM Plex Sans" pitchFamily="34" charset="0"/>
                <a:ea typeface="IBM Plex Sans" pitchFamily="34" charset="-122"/>
                <a:cs typeface="IBM Plex Sans" pitchFamily="34" charset="-120"/>
              </a:rPr>
              <a:t>A simulation under stated assumptions, not a causal estimate.</a:t>
            </a:r>
            <a:endParaRPr lang="en-US" sz="1600" dirty="0"/>
          </a:p>
        </p:txBody>
      </p:sp>
      <p:sp>
        <p:nvSpPr>
          <p:cNvPr id="20" name="Text 18"/>
          <p:cNvSpPr/>
          <p:nvPr/>
        </p:nvSpPr>
        <p:spPr>
          <a:xfrm>
            <a:off x="1041400" y="4561842"/>
            <a:ext cx="1041247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3A05"/>
                </a:solidFill>
                <a:latin typeface="IBM Plex Sans" pitchFamily="34" charset="0"/>
                <a:ea typeface="IBM Plex Sans" pitchFamily="34" charset="-122"/>
                <a:cs typeface="IBM Plex Sans" pitchFamily="34" charset="-120"/>
              </a:rPr>
              <a:t>Every intervention effect carries a label: illustrative default, fitted from data, or literature (to be verified). On synthetic patients we check the engine against the generator’s ground-truth counterfactuals; error: </a:t>
            </a:r>
            <a:r>
              <a:rPr lang="en-US" sz="1200" b="1" dirty="0">
                <a:solidFill>
                  <a:srgbClr val="7A3A05"/>
                </a:solidFill>
                <a:latin typeface="IBM Plex Sans" pitchFamily="34" charset="0"/>
                <a:ea typeface="IBM Plex Sans" pitchFamily="34" charset="-122"/>
                <a:cs typeface="IBM Plex Sans" pitchFamily="34" charset="-120"/>
              </a:rPr>
              <a:t>[__]</a:t>
            </a:r>
            <a:r>
              <a:rPr lang="en-US" sz="1200" dirty="0">
                <a:solidFill>
                  <a:srgbClr val="7A3A05"/>
                </a:solidFill>
                <a:latin typeface="IBM Plex Sans" pitchFamily="34" charset="0"/>
                <a:ea typeface="IBM Plex Sans" pitchFamily="34" charset="-122"/>
                <a:cs typeface="IBM Plex Sans" pitchFamily="34" charset="-120"/>
              </a:rPr>
              <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DOCTOR EXPERIENCE · CONCEPTUAL WIREFRAME</a:t>
            </a:r>
            <a:endParaRPr lang="en-US" sz="1200" dirty="0"/>
          </a:p>
        </p:txBody>
      </p:sp>
      <p:sp>
        <p:nvSpPr>
          <p:cNvPr id="3" name="Text 1"/>
          <p:cNvSpPr/>
          <p:nvPr>
            <p:ph type="title"/>
          </p:nvPr>
        </p:nvSpPr>
        <p:spPr>
          <a:xfrm>
            <a:off x="812800" y="11023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Doctor dashboard</a:t>
            </a:r>
            <a:endParaRPr lang="en-US" sz="3600" dirty="0"/>
          </a:p>
        </p:txBody>
      </p:sp>
      <p:sp>
        <p:nvSpPr>
          <p:cNvPr id="4" name="Shape 2"/>
          <p:cNvSpPr/>
          <p:nvPr/>
        </p:nvSpPr>
        <p:spPr>
          <a:xfrm>
            <a:off x="815975" y="1811660"/>
            <a:ext cx="10560050" cy="450850"/>
          </a:xfrm>
          <a:prstGeom prst="roundRect">
            <a:avLst>
              <a:gd name="adj" fmla="val 16197"/>
            </a:avLst>
          </a:prstGeom>
          <a:solidFill>
            <a:srgbClr val="FCFBF8"/>
          </a:solidFill>
          <a:ln w="6350">
            <a:solidFill>
              <a:srgbClr val="C7D8D4"/>
            </a:solidFill>
            <a:prstDash val="solid"/>
          </a:ln>
        </p:spPr>
      </p:sp>
      <p:sp>
        <p:nvSpPr>
          <p:cNvPr id="5" name="Text 3"/>
          <p:cNvSpPr/>
          <p:nvPr/>
        </p:nvSpPr>
        <p:spPr>
          <a:xfrm>
            <a:off x="970280" y="1945642"/>
            <a:ext cx="1361122"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6E7C"/>
                </a:solidFill>
                <a:latin typeface="IBM Plex Sans" pitchFamily="34" charset="0"/>
                <a:ea typeface="IBM Plex Sans" pitchFamily="34" charset="-122"/>
                <a:cs typeface="IBM Plex Sans" pitchFamily="34" charset="-120"/>
              </a:rPr>
              <a:t>1 · Patient header</a:t>
            </a:r>
            <a:endParaRPr lang="en-US" sz="1200" dirty="0"/>
          </a:p>
        </p:txBody>
      </p:sp>
      <p:sp>
        <p:nvSpPr>
          <p:cNvPr id="6" name="Text 4"/>
          <p:cNvSpPr/>
          <p:nvPr/>
        </p:nvSpPr>
        <p:spPr>
          <a:xfrm>
            <a:off x="2331402" y="1907542"/>
            <a:ext cx="1579404" cy="259080"/>
          </a:xfrm>
          <a:prstGeom prst="roundRect">
            <a:avLst>
              <a:gd name="adj" fmla="val 50000"/>
            </a:avLst>
          </a:prstGeom>
          <a:solidFill>
            <a:srgbClr val="F8E5D0"/>
          </a:solidFill>
          <a:ln/>
        </p:spPr>
        <p:txBody>
          <a:bodyPr wrap="none" lIns="0" tIns="0" rIns="0" bIns="0" rtlCol="0" anchor="ctr">
            <a:normAutofit/>
          </a:bodyPr>
          <a:lstStyle/>
          <a:p>
            <a:pPr algn="ctr" indent="0" marL="0">
              <a:lnSpc>
                <a:spcPts val="1440"/>
              </a:lnSpc>
              <a:buNone/>
            </a:pPr>
            <a:r>
              <a:rPr lang="en-US" sz="1200" b="1" dirty="0">
                <a:solidFill>
                  <a:srgbClr val="7A3A05"/>
                </a:solidFill>
                <a:latin typeface="IBM Plex Sans" pitchFamily="34" charset="0"/>
                <a:ea typeface="IBM Plex Sans" pitchFamily="34" charset="-122"/>
                <a:cs typeface="IBM Plex Sans" pitchFamily="34" charset="-120"/>
              </a:rPr>
              <a:t>SYNTHETIC patient</a:t>
            </a:r>
            <a:endParaRPr lang="en-US" sz="1200" dirty="0"/>
          </a:p>
        </p:txBody>
      </p:sp>
      <p:sp>
        <p:nvSpPr>
          <p:cNvPr id="7" name="Text 5"/>
          <p:cNvSpPr/>
          <p:nvPr/>
        </p:nvSpPr>
        <p:spPr>
          <a:xfrm>
            <a:off x="4012406" y="1907542"/>
            <a:ext cx="1974533" cy="2590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Twin synced [__] min ago</a:t>
            </a:r>
            <a:endParaRPr lang="en-US" sz="1200" dirty="0"/>
          </a:p>
        </p:txBody>
      </p:sp>
      <p:sp>
        <p:nvSpPr>
          <p:cNvPr id="8" name="Text 6"/>
          <p:cNvSpPr/>
          <p:nvPr/>
        </p:nvSpPr>
        <p:spPr>
          <a:xfrm>
            <a:off x="6088539" y="1907542"/>
            <a:ext cx="1685131" cy="2590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Data [__]% complete</a:t>
            </a:r>
            <a:endParaRPr lang="en-US" sz="1200" dirty="0"/>
          </a:p>
        </p:txBody>
      </p:sp>
      <p:sp>
        <p:nvSpPr>
          <p:cNvPr id="9" name="Text 7"/>
          <p:cNvSpPr/>
          <p:nvPr/>
        </p:nvSpPr>
        <p:spPr>
          <a:xfrm>
            <a:off x="7875270" y="1907542"/>
            <a:ext cx="1021318" cy="259080"/>
          </a:xfrm>
          <a:prstGeom prst="roundRect">
            <a:avLst>
              <a:gd name="adj" fmla="val 50000"/>
            </a:avLst>
          </a:prstGeom>
          <a:solidFill>
            <a:srgbClr val="E6E3D8"/>
          </a:solidFill>
          <a:ln/>
        </p:spPr>
        <p:txBody>
          <a:bodyPr wrap="none" lIns="0" tIns="0" rIns="0" bIns="0" rtlCol="0" anchor="ctr">
            <a:normAutofit/>
          </a:bodyPr>
          <a:lstStyle/>
          <a:p>
            <a:pPr algn="ctr" indent="0" marL="0">
              <a:lnSpc>
                <a:spcPts val="1440"/>
              </a:lnSpc>
              <a:buNone/>
            </a:pPr>
            <a:r>
              <a:rPr lang="en-US" sz="1200" b="1" dirty="0">
                <a:solidFill>
                  <a:srgbClr val="4A5A5D"/>
                </a:solidFill>
                <a:latin typeface="IBM Plex Sans" pitchFamily="34" charset="0"/>
                <a:ea typeface="IBM Plex Sans" pitchFamily="34" charset="-122"/>
                <a:cs typeface="IBM Plex Sans" pitchFamily="34" charset="-120"/>
              </a:rPr>
              <a:t>Model v[__]</a:t>
            </a:r>
            <a:endParaRPr lang="en-US" sz="1200" dirty="0"/>
          </a:p>
        </p:txBody>
      </p:sp>
      <p:sp>
        <p:nvSpPr>
          <p:cNvPr id="10" name="Shape 8"/>
          <p:cNvSpPr/>
          <p:nvPr/>
        </p:nvSpPr>
        <p:spPr>
          <a:xfrm>
            <a:off x="815975" y="2370460"/>
            <a:ext cx="6597650" cy="1835150"/>
          </a:xfrm>
          <a:prstGeom prst="roundRect">
            <a:avLst>
              <a:gd name="adj" fmla="val 3979"/>
            </a:avLst>
          </a:prstGeom>
          <a:solidFill>
            <a:srgbClr val="FCFBF8"/>
          </a:solidFill>
          <a:ln w="6350">
            <a:solidFill>
              <a:srgbClr val="C7D8D4"/>
            </a:solidFill>
            <a:prstDash val="solid"/>
          </a:ln>
        </p:spPr>
      </p:sp>
      <p:sp>
        <p:nvSpPr>
          <p:cNvPr id="11" name="Text 9"/>
          <p:cNvSpPr/>
          <p:nvPr/>
        </p:nvSpPr>
        <p:spPr>
          <a:xfrm>
            <a:off x="970280" y="2499358"/>
            <a:ext cx="2656237"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6E7C"/>
                </a:solidFill>
                <a:latin typeface="IBM Plex Sans" pitchFamily="34" charset="0"/>
                <a:ea typeface="IBM Plex Sans" pitchFamily="34" charset="-122"/>
                <a:cs typeface="IBM Plex Sans" pitchFamily="34" charset="-120"/>
              </a:rPr>
              <a:t>2 · Glucose and 2-hour forecast</a:t>
            </a:r>
            <a:endParaRPr lang="en-US" sz="1200" dirty="0"/>
          </a:p>
        </p:txBody>
      </p:sp>
      <p:sp>
        <p:nvSpPr>
          <p:cNvPr id="12" name="Text 10"/>
          <p:cNvSpPr/>
          <p:nvPr/>
        </p:nvSpPr>
        <p:spPr>
          <a:xfrm>
            <a:off x="5319649" y="2499358"/>
            <a:ext cx="1939671" cy="208280"/>
          </a:xfrm>
          <a:prstGeom prst="rect">
            <a:avLst/>
          </a:prstGeom>
          <a:noFill/>
          <a:ln/>
        </p:spPr>
        <p:txBody>
          <a:bodyPr wrap="square" lIns="0" tIns="0" rIns="0" bIns="0" rtlCol="0" anchor="t">
            <a:normAutofit/>
          </a:bodyPr>
          <a:lstStyle/>
          <a:p>
            <a:pPr algn="r" indent="0" marL="0">
              <a:lnSpc>
                <a:spcPts val="1440"/>
              </a:lnSpc>
              <a:buNone/>
            </a:pPr>
            <a:r>
              <a:rPr lang="en-US" sz="1200" dirty="0">
                <a:solidFill>
                  <a:srgbClr val="5B6E71"/>
                </a:solidFill>
                <a:latin typeface="IBM Plex Sans" pitchFamily="34" charset="0"/>
                <a:ea typeface="IBM Plex Sans" pitchFamily="34" charset="-122"/>
                <a:cs typeface="IBM Plex Sans" pitchFamily="34" charset="-120"/>
              </a:rPr>
              <a:t>dashed line: 180 mg/dL</a:t>
            </a:r>
            <a:endParaRPr lang="en-US" sz="1200" dirty="0"/>
          </a:p>
        </p:txBody>
      </p:sp>
      <p:pic>
        <p:nvPicPr>
          <p:cNvPr id="13" name="Image 0" descr="Wireframe chart: glucose trace, forecast band and a dashed 180 mg/dL line">    </p:cNvPr>
          <p:cNvPicPr>
            <a:picLocks noChangeAspect="1"/>
          </p:cNvPicPr>
          <p:nvPr/>
        </p:nvPicPr>
        <p:blipFill>
          <a:blip r:embed="rId1"/>
          <a:srcRect l="0" r="0" t="0" b="0"/>
          <a:stretch/>
        </p:blipFill>
        <p:spPr>
          <a:xfrm>
            <a:off x="970280" y="2745742"/>
            <a:ext cx="6299200" cy="952500"/>
          </a:xfrm>
          <a:prstGeom prst="rect">
            <a:avLst/>
          </a:prstGeom>
        </p:spPr>
      </p:pic>
      <p:sp>
        <p:nvSpPr>
          <p:cNvPr id="14" name="Text 11"/>
          <p:cNvSpPr/>
          <p:nvPr/>
        </p:nvSpPr>
        <p:spPr>
          <a:xfrm>
            <a:off x="970280" y="3761742"/>
            <a:ext cx="558546"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B6E71"/>
                </a:solidFill>
                <a:latin typeface="IBM Plex Sans" pitchFamily="34" charset="0"/>
                <a:ea typeface="IBM Plex Sans" pitchFamily="34" charset="-122"/>
                <a:cs typeface="IBM Plex Sans" pitchFamily="34" charset="-120"/>
              </a:rPr>
              <a:t>Replay</a:t>
            </a:r>
            <a:endParaRPr lang="en-US" sz="1200" dirty="0"/>
          </a:p>
        </p:txBody>
      </p:sp>
      <p:sp>
        <p:nvSpPr>
          <p:cNvPr id="15" name="Shape 12"/>
          <p:cNvSpPr/>
          <p:nvPr/>
        </p:nvSpPr>
        <p:spPr>
          <a:xfrm>
            <a:off x="1537335" y="3827785"/>
            <a:ext cx="5588000" cy="50800"/>
          </a:xfrm>
          <a:prstGeom prst="roundRect">
            <a:avLst>
              <a:gd name="adj" fmla="val 50000"/>
            </a:avLst>
          </a:prstGeom>
          <a:solidFill>
            <a:srgbClr val="D5D8CF"/>
          </a:solidFill>
          <a:ln/>
        </p:spPr>
      </p:sp>
      <p:sp>
        <p:nvSpPr>
          <p:cNvPr id="16" name="Shape 13"/>
          <p:cNvSpPr/>
          <p:nvPr/>
        </p:nvSpPr>
        <p:spPr>
          <a:xfrm>
            <a:off x="1537335" y="3827785"/>
            <a:ext cx="3467100" cy="50800"/>
          </a:xfrm>
          <a:prstGeom prst="roundRect">
            <a:avLst>
              <a:gd name="adj" fmla="val 50000"/>
            </a:avLst>
          </a:prstGeom>
          <a:solidFill>
            <a:srgbClr val="0B6E7C"/>
          </a:solidFill>
          <a:ln/>
        </p:spPr>
      </p:sp>
      <p:sp>
        <p:nvSpPr>
          <p:cNvPr id="17" name="Shape 14"/>
          <p:cNvSpPr/>
          <p:nvPr/>
        </p:nvSpPr>
        <p:spPr>
          <a:xfrm>
            <a:off x="4928235" y="3776985"/>
            <a:ext cx="152400" cy="152400"/>
          </a:xfrm>
          <a:prstGeom prst="roundRect">
            <a:avLst>
              <a:gd name="adj" fmla="val 50000"/>
            </a:avLst>
          </a:prstGeom>
          <a:solidFill>
            <a:srgbClr val="0B6E7C"/>
          </a:solidFill>
          <a:ln/>
        </p:spPr>
      </p:sp>
      <p:sp>
        <p:nvSpPr>
          <p:cNvPr id="18" name="Shape 15"/>
          <p:cNvSpPr/>
          <p:nvPr/>
        </p:nvSpPr>
        <p:spPr>
          <a:xfrm>
            <a:off x="7521575" y="2370460"/>
            <a:ext cx="3854450" cy="1835150"/>
          </a:xfrm>
          <a:prstGeom prst="roundRect">
            <a:avLst>
              <a:gd name="adj" fmla="val 3979"/>
            </a:avLst>
          </a:prstGeom>
          <a:solidFill>
            <a:srgbClr val="FCFBF8"/>
          </a:solidFill>
          <a:ln w="6350">
            <a:solidFill>
              <a:srgbClr val="C7D8D4"/>
            </a:solidFill>
            <a:prstDash val="solid"/>
          </a:ln>
        </p:spPr>
      </p:sp>
      <p:sp>
        <p:nvSpPr>
          <p:cNvPr id="19" name="Text 16"/>
          <p:cNvSpPr/>
          <p:nvPr/>
        </p:nvSpPr>
        <p:spPr>
          <a:xfrm>
            <a:off x="7675880" y="2499358"/>
            <a:ext cx="3652215"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6E7C"/>
                </a:solidFill>
                <a:latin typeface="IBM Plex Sans" pitchFamily="34" charset="0"/>
                <a:ea typeface="IBM Plex Sans" pitchFamily="34" charset="-122"/>
                <a:cs typeface="IBM Plex Sans" pitchFamily="34" charset="-120"/>
              </a:rPr>
              <a:t>3 · Risk, next 2 hours</a:t>
            </a:r>
            <a:endParaRPr lang="en-US" sz="1200" dirty="0"/>
          </a:p>
        </p:txBody>
      </p:sp>
      <p:sp>
        <p:nvSpPr>
          <p:cNvPr id="20" name="Text 17"/>
          <p:cNvSpPr/>
          <p:nvPr/>
        </p:nvSpPr>
        <p:spPr>
          <a:xfrm>
            <a:off x="7675880" y="2745742"/>
            <a:ext cx="1445419"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9C4A07"/>
                </a:solidFill>
                <a:latin typeface="Source Serif 4" pitchFamily="18" charset="0"/>
                <a:ea typeface="Source Serif 4" pitchFamily="18" charset="-122"/>
                <a:cs typeface="Source Serif 4" pitchFamily="18" charset="-120"/>
              </a:rPr>
              <a:t>[__%]</a:t>
            </a:r>
            <a:endParaRPr lang="en-US" sz="3600" dirty="0"/>
          </a:p>
        </p:txBody>
      </p:sp>
      <p:sp>
        <p:nvSpPr>
          <p:cNvPr id="21" name="Text 18"/>
          <p:cNvSpPr/>
          <p:nvPr/>
        </p:nvSpPr>
        <p:spPr>
          <a:xfrm>
            <a:off x="9121299" y="2769877"/>
            <a:ext cx="1346454"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E71"/>
                </a:solidFill>
                <a:latin typeface="IBM Plex Sans" pitchFamily="34" charset="0"/>
                <a:ea typeface="IBM Plex Sans" pitchFamily="34" charset="-122"/>
                <a:cs typeface="IBM Plex Sans" pitchFamily="34" charset="-120"/>
              </a:rPr>
              <a:t>Time to crossing</a:t>
            </a:r>
            <a:endParaRPr lang="en-US" sz="1200" dirty="0"/>
          </a:p>
        </p:txBody>
      </p:sp>
      <p:sp>
        <p:nvSpPr>
          <p:cNvPr id="22" name="Text 19"/>
          <p:cNvSpPr/>
          <p:nvPr/>
        </p:nvSpPr>
        <p:spPr>
          <a:xfrm>
            <a:off x="9121299" y="2980692"/>
            <a:ext cx="117284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9C4A07"/>
                </a:solidFill>
                <a:latin typeface="IBM Plex Sans" pitchFamily="34" charset="0"/>
                <a:ea typeface="IBM Plex Sans" pitchFamily="34" charset="-122"/>
                <a:cs typeface="IBM Plex Sans" pitchFamily="34" charset="-120"/>
              </a:rPr>
              <a:t>[__] min</a:t>
            </a:r>
            <a:endParaRPr lang="en-US" sz="1600" dirty="0"/>
          </a:p>
        </p:txBody>
      </p:sp>
      <p:sp>
        <p:nvSpPr>
          <p:cNvPr id="23" name="Text 20"/>
          <p:cNvSpPr/>
          <p:nvPr/>
        </p:nvSpPr>
        <p:spPr>
          <a:xfrm>
            <a:off x="7675880" y="3312158"/>
            <a:ext cx="365221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E71"/>
                </a:solidFill>
                <a:latin typeface="IBM Plex Sans" pitchFamily="34" charset="0"/>
                <a:ea typeface="IBM Plex Sans" pitchFamily="34" charset="-122"/>
                <a:cs typeface="IBM Plex Sans" pitchFamily="34" charset="-120"/>
              </a:rPr>
              <a:t>Top drivers</a:t>
            </a:r>
            <a:endParaRPr lang="en-US" sz="1200" dirty="0"/>
          </a:p>
        </p:txBody>
      </p:sp>
      <p:sp>
        <p:nvSpPr>
          <p:cNvPr id="24" name="Shape 21"/>
          <p:cNvSpPr/>
          <p:nvPr/>
        </p:nvSpPr>
        <p:spPr>
          <a:xfrm>
            <a:off x="7675880" y="3573785"/>
            <a:ext cx="3175000" cy="88900"/>
          </a:xfrm>
          <a:prstGeom prst="roundRect">
            <a:avLst>
              <a:gd name="adj" fmla="val 50000"/>
            </a:avLst>
          </a:prstGeom>
          <a:solidFill>
            <a:srgbClr val="B9CFCB"/>
          </a:solidFill>
          <a:ln/>
        </p:spPr>
      </p:sp>
      <p:sp>
        <p:nvSpPr>
          <p:cNvPr id="25" name="Shape 22"/>
          <p:cNvSpPr/>
          <p:nvPr/>
        </p:nvSpPr>
        <p:spPr>
          <a:xfrm>
            <a:off x="7675880" y="3726185"/>
            <a:ext cx="2413000" cy="88900"/>
          </a:xfrm>
          <a:prstGeom prst="roundRect">
            <a:avLst>
              <a:gd name="adj" fmla="val 50000"/>
            </a:avLst>
          </a:prstGeom>
          <a:solidFill>
            <a:srgbClr val="B9CFCB"/>
          </a:solidFill>
          <a:ln/>
        </p:spPr>
      </p:sp>
      <p:sp>
        <p:nvSpPr>
          <p:cNvPr id="26" name="Shape 23"/>
          <p:cNvSpPr/>
          <p:nvPr/>
        </p:nvSpPr>
        <p:spPr>
          <a:xfrm>
            <a:off x="7675880" y="3878585"/>
            <a:ext cx="1651000" cy="88900"/>
          </a:xfrm>
          <a:prstGeom prst="roundRect">
            <a:avLst>
              <a:gd name="adj" fmla="val 50000"/>
            </a:avLst>
          </a:prstGeom>
          <a:solidFill>
            <a:srgbClr val="B9CFCB"/>
          </a:solidFill>
          <a:ln/>
        </p:spPr>
      </p:sp>
      <p:sp>
        <p:nvSpPr>
          <p:cNvPr id="27" name="Shape 24"/>
          <p:cNvSpPr/>
          <p:nvPr/>
        </p:nvSpPr>
        <p:spPr>
          <a:xfrm>
            <a:off x="815975" y="4313560"/>
            <a:ext cx="3346450" cy="1428750"/>
          </a:xfrm>
          <a:prstGeom prst="roundRect">
            <a:avLst>
              <a:gd name="adj" fmla="val 5111"/>
            </a:avLst>
          </a:prstGeom>
          <a:solidFill>
            <a:srgbClr val="FCFBF8"/>
          </a:solidFill>
          <a:ln w="6350">
            <a:solidFill>
              <a:srgbClr val="C7D8D4"/>
            </a:solidFill>
            <a:prstDash val="solid"/>
          </a:ln>
        </p:spPr>
      </p:sp>
      <p:sp>
        <p:nvSpPr>
          <p:cNvPr id="28" name="Text 25"/>
          <p:cNvSpPr/>
          <p:nvPr/>
        </p:nvSpPr>
        <p:spPr>
          <a:xfrm>
            <a:off x="970280" y="4442458"/>
            <a:ext cx="3128975"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6E7C"/>
                </a:solidFill>
                <a:latin typeface="IBM Plex Sans" pitchFamily="34" charset="0"/>
                <a:ea typeface="IBM Plex Sans" pitchFamily="34" charset="-122"/>
                <a:cs typeface="IBM Plex Sans" pitchFamily="34" charset="-120"/>
              </a:rPr>
              <a:t>4 · EHR card</a:t>
            </a:r>
            <a:endParaRPr lang="en-US" sz="1200" dirty="0"/>
          </a:p>
        </p:txBody>
      </p:sp>
      <p:sp>
        <p:nvSpPr>
          <p:cNvPr id="29" name="Text 26"/>
          <p:cNvSpPr/>
          <p:nvPr/>
        </p:nvSpPr>
        <p:spPr>
          <a:xfrm>
            <a:off x="970280" y="4688842"/>
            <a:ext cx="930910"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Diagnoses</a:t>
            </a:r>
            <a:endParaRPr lang="en-US" sz="1200" dirty="0"/>
          </a:p>
        </p:txBody>
      </p:sp>
      <p:sp>
        <p:nvSpPr>
          <p:cNvPr id="30" name="Text 27"/>
          <p:cNvSpPr/>
          <p:nvPr/>
        </p:nvSpPr>
        <p:spPr>
          <a:xfrm>
            <a:off x="1977390" y="4688842"/>
            <a:ext cx="535702"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Labs</a:t>
            </a:r>
            <a:endParaRPr lang="en-US" sz="1200" dirty="0"/>
          </a:p>
        </p:txBody>
      </p:sp>
      <p:sp>
        <p:nvSpPr>
          <p:cNvPr id="31" name="Text 28"/>
          <p:cNvSpPr/>
          <p:nvPr/>
        </p:nvSpPr>
        <p:spPr>
          <a:xfrm>
            <a:off x="2589292" y="4688842"/>
            <a:ext cx="1059259"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Medications</a:t>
            </a:r>
            <a:endParaRPr lang="en-US" sz="1200" dirty="0"/>
          </a:p>
        </p:txBody>
      </p:sp>
      <p:sp>
        <p:nvSpPr>
          <p:cNvPr id="32" name="Text 29"/>
          <p:cNvSpPr/>
          <p:nvPr/>
        </p:nvSpPr>
        <p:spPr>
          <a:xfrm>
            <a:off x="970280" y="5049527"/>
            <a:ext cx="1047988"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Genetic risk</a:t>
            </a:r>
            <a:endParaRPr lang="en-US" sz="1200" dirty="0"/>
          </a:p>
        </p:txBody>
      </p:sp>
      <p:sp>
        <p:nvSpPr>
          <p:cNvPr id="33" name="Text 30"/>
          <p:cNvSpPr/>
          <p:nvPr/>
        </p:nvSpPr>
        <p:spPr>
          <a:xfrm>
            <a:off x="970280" y="5397500"/>
            <a:ext cx="312897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E71"/>
                </a:solidFill>
                <a:latin typeface="IBM Plex Sans" pitchFamily="34" charset="0"/>
                <a:ea typeface="IBM Plex Sans" pitchFamily="34" charset="-122"/>
                <a:cs typeface="IBM Plex Sans" pitchFamily="34" charset="-120"/>
              </a:rPr>
              <a:t>Past records beside the live stream</a:t>
            </a:r>
            <a:endParaRPr lang="en-US" sz="1200" dirty="0"/>
          </a:p>
        </p:txBody>
      </p:sp>
      <p:sp>
        <p:nvSpPr>
          <p:cNvPr id="34" name="Shape 31"/>
          <p:cNvSpPr/>
          <p:nvPr/>
        </p:nvSpPr>
        <p:spPr>
          <a:xfrm>
            <a:off x="4270375" y="4313560"/>
            <a:ext cx="3549650" cy="1428750"/>
          </a:xfrm>
          <a:prstGeom prst="roundRect">
            <a:avLst>
              <a:gd name="adj" fmla="val 5111"/>
            </a:avLst>
          </a:prstGeom>
          <a:solidFill>
            <a:srgbClr val="FCFBF8"/>
          </a:solidFill>
          <a:ln w="6350">
            <a:solidFill>
              <a:srgbClr val="C7D8D4"/>
            </a:solidFill>
            <a:prstDash val="solid"/>
          </a:ln>
        </p:spPr>
      </p:sp>
      <p:sp>
        <p:nvSpPr>
          <p:cNvPr id="35" name="Text 32"/>
          <p:cNvSpPr/>
          <p:nvPr/>
        </p:nvSpPr>
        <p:spPr>
          <a:xfrm>
            <a:off x="4424680" y="4442458"/>
            <a:ext cx="3338271"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6E7C"/>
                </a:solidFill>
                <a:latin typeface="IBM Plex Sans" pitchFamily="34" charset="0"/>
                <a:ea typeface="IBM Plex Sans" pitchFamily="34" charset="-122"/>
                <a:cs typeface="IBM Plex Sans" pitchFamily="34" charset="-120"/>
              </a:rPr>
              <a:t>5 · What-if, with assumption label</a:t>
            </a:r>
            <a:endParaRPr lang="en-US" sz="1200" dirty="0"/>
          </a:p>
        </p:txBody>
      </p:sp>
      <p:sp>
        <p:nvSpPr>
          <p:cNvPr id="36" name="Text 33"/>
          <p:cNvSpPr/>
          <p:nvPr/>
        </p:nvSpPr>
        <p:spPr>
          <a:xfrm>
            <a:off x="4424680" y="4688842"/>
            <a:ext cx="982266"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Swap meal</a:t>
            </a:r>
            <a:endParaRPr lang="en-US" sz="1200" dirty="0"/>
          </a:p>
        </p:txBody>
      </p:sp>
      <p:sp>
        <p:nvSpPr>
          <p:cNvPr id="37" name="Text 34"/>
          <p:cNvSpPr/>
          <p:nvPr/>
        </p:nvSpPr>
        <p:spPr>
          <a:xfrm>
            <a:off x="5483146" y="4688842"/>
            <a:ext cx="559832"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Walk</a:t>
            </a:r>
            <a:endParaRPr lang="en-US" sz="1200" dirty="0"/>
          </a:p>
        </p:txBody>
      </p:sp>
      <p:sp>
        <p:nvSpPr>
          <p:cNvPr id="38" name="Text 35"/>
          <p:cNvSpPr/>
          <p:nvPr/>
        </p:nvSpPr>
        <p:spPr>
          <a:xfrm>
            <a:off x="6119178" y="4688842"/>
            <a:ext cx="1029573"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dirty="0">
                <a:solidFill>
                  <a:srgbClr val="08505A"/>
                </a:solidFill>
                <a:latin typeface="IBM Plex Sans" pitchFamily="34" charset="0"/>
                <a:ea typeface="IBM Plex Sans" pitchFamily="34" charset="-122"/>
                <a:cs typeface="IBM Plex Sans" pitchFamily="34" charset="-120"/>
              </a:rPr>
              <a:t>Dinner time</a:t>
            </a:r>
            <a:endParaRPr lang="en-US" sz="1200" dirty="0"/>
          </a:p>
        </p:txBody>
      </p:sp>
      <p:pic>
        <p:nvPicPr>
          <p:cNvPr id="39" name="Image 1" descr="Wireframe chart: baseline forecast and a lower what-if forecast">    </p:cNvPr>
          <p:cNvPicPr>
            <a:picLocks noChangeAspect="1"/>
          </p:cNvPicPr>
          <p:nvPr/>
        </p:nvPicPr>
        <p:blipFill>
          <a:blip r:embed="rId2"/>
          <a:srcRect l="0" r="0" t="0" b="0"/>
          <a:stretch/>
        </p:blipFill>
        <p:spPr>
          <a:xfrm>
            <a:off x="4424680" y="5036827"/>
            <a:ext cx="3251200" cy="508000"/>
          </a:xfrm>
          <a:prstGeom prst="rect">
            <a:avLst/>
          </a:prstGeom>
        </p:spPr>
      </p:pic>
      <p:sp>
        <p:nvSpPr>
          <p:cNvPr id="40" name="Shape 36"/>
          <p:cNvSpPr/>
          <p:nvPr/>
        </p:nvSpPr>
        <p:spPr>
          <a:xfrm>
            <a:off x="7927975" y="4313560"/>
            <a:ext cx="3448050" cy="1428750"/>
          </a:xfrm>
          <a:prstGeom prst="roundRect">
            <a:avLst>
              <a:gd name="adj" fmla="val 5111"/>
            </a:avLst>
          </a:prstGeom>
          <a:solidFill>
            <a:srgbClr val="FCFBF8"/>
          </a:solidFill>
          <a:ln w="6350">
            <a:solidFill>
              <a:srgbClr val="C7D8D4"/>
            </a:solidFill>
            <a:prstDash val="solid"/>
          </a:ln>
        </p:spPr>
      </p:sp>
      <p:sp>
        <p:nvSpPr>
          <p:cNvPr id="41" name="Text 37"/>
          <p:cNvSpPr/>
          <p:nvPr/>
        </p:nvSpPr>
        <p:spPr>
          <a:xfrm>
            <a:off x="8082280" y="4442458"/>
            <a:ext cx="3233623" cy="20828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0B6E7C"/>
                </a:solidFill>
                <a:latin typeface="IBM Plex Sans" pitchFamily="34" charset="0"/>
                <a:ea typeface="IBM Plex Sans" pitchFamily="34" charset="-122"/>
                <a:cs typeface="IBM Plex Sans" pitchFamily="34" charset="-120"/>
              </a:rPr>
              <a:t>6 · 14-day glucose profile</a:t>
            </a:r>
            <a:endParaRPr lang="en-US" sz="1200" dirty="0"/>
          </a:p>
        </p:txBody>
      </p:sp>
      <p:pic>
        <p:nvPicPr>
          <p:cNvPr id="42" name="Image 2" descr="Wireframe chart: 14-day glucose profile with a median line and a percentile band">    </p:cNvPr>
          <p:cNvPicPr>
            <a:picLocks noChangeAspect="1"/>
          </p:cNvPicPr>
          <p:nvPr/>
        </p:nvPicPr>
        <p:blipFill>
          <a:blip r:embed="rId3"/>
          <a:srcRect l="0" r="0" t="0" b="0"/>
          <a:stretch/>
        </p:blipFill>
        <p:spPr>
          <a:xfrm>
            <a:off x="8082280" y="4688842"/>
            <a:ext cx="3149600" cy="571500"/>
          </a:xfrm>
          <a:prstGeom prst="rect">
            <a:avLst/>
          </a:prstGeom>
        </p:spPr>
      </p:pic>
      <p:sp>
        <p:nvSpPr>
          <p:cNvPr id="43" name="Text 38"/>
          <p:cNvSpPr/>
          <p:nvPr/>
        </p:nvSpPr>
        <p:spPr>
          <a:xfrm>
            <a:off x="8082280" y="5323842"/>
            <a:ext cx="3233623"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B6E71"/>
                </a:solidFill>
                <a:latin typeface="IBM Plex Sans" pitchFamily="34" charset="0"/>
                <a:ea typeface="IBM Plex Sans" pitchFamily="34" charset="-122"/>
                <a:cs typeface="IBM Plex Sans" pitchFamily="34" charset="-120"/>
              </a:rPr>
              <a:t>Time in range, above 180, below 70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DOCTOR EXPERIENCE</a:t>
            </a:r>
            <a:endParaRPr lang="en-US" sz="1200" dirty="0"/>
          </a:p>
        </p:txBody>
      </p:sp>
      <p:sp>
        <p:nvSpPr>
          <p:cNvPr id="3" name="Text 1"/>
          <p:cNvSpPr/>
          <p:nvPr>
            <p:ph type="title"/>
          </p:nvPr>
        </p:nvSpPr>
        <p:spPr>
          <a:xfrm>
            <a:off x="812800" y="11023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Doctor workflow</a:t>
            </a:r>
            <a:endParaRPr lang="en-US" sz="3600" dirty="0"/>
          </a:p>
        </p:txBody>
      </p:sp>
      <p:sp>
        <p:nvSpPr>
          <p:cNvPr id="4" name="Shape 2"/>
          <p:cNvSpPr/>
          <p:nvPr/>
        </p:nvSpPr>
        <p:spPr>
          <a:xfrm>
            <a:off x="815975" y="1862460"/>
            <a:ext cx="1822450" cy="2330450"/>
          </a:xfrm>
          <a:prstGeom prst="roundRect">
            <a:avLst>
              <a:gd name="adj" fmla="val 5401"/>
            </a:avLst>
          </a:prstGeom>
          <a:solidFill>
            <a:srgbClr val="FCFBF8"/>
          </a:solidFill>
          <a:ln w="6350">
            <a:solidFill>
              <a:srgbClr val="D5D8CF"/>
            </a:solidFill>
            <a:prstDash val="solid"/>
          </a:ln>
        </p:spPr>
      </p:sp>
      <p:sp>
        <p:nvSpPr>
          <p:cNvPr id="5" name="Text 3"/>
          <p:cNvSpPr/>
          <p:nvPr/>
        </p:nvSpPr>
        <p:spPr>
          <a:xfrm>
            <a:off x="995680" y="2042158"/>
            <a:ext cx="355600" cy="355600"/>
          </a:xfrm>
          <a:prstGeom prst="roundRect">
            <a:avLst>
              <a:gd name="adj" fmla="val 50000"/>
            </a:avLst>
          </a:prstGeom>
          <a:solidFill>
            <a:srgbClr val="0B6E7C"/>
          </a:solidFill>
          <a:ln/>
        </p:spPr>
        <p:txBody>
          <a:bodyPr wrap="square" lIns="0" tIns="0" rIns="0" bIns="0" rtlCol="0" anchor="ctr">
            <a:normAutofit/>
          </a:bodyPr>
          <a:lstStyle/>
          <a:p>
            <a:pPr algn="ctr" indent="0" marL="0">
              <a:lnSpc>
                <a:spcPts val="1920"/>
              </a:lnSpc>
              <a:buNone/>
            </a:pPr>
            <a:r>
              <a:rPr lang="en-US" sz="1600" b="1" dirty="0">
                <a:solidFill>
                  <a:srgbClr val="FFFFFF"/>
                </a:solidFill>
                <a:latin typeface="IBM Plex Sans" pitchFamily="34" charset="0"/>
                <a:ea typeface="IBM Plex Sans" pitchFamily="34" charset="-122"/>
                <a:cs typeface="IBM Plex Sans" pitchFamily="34" charset="-120"/>
              </a:rPr>
              <a:t>1</a:t>
            </a:r>
            <a:endParaRPr lang="en-US" sz="1600" dirty="0"/>
          </a:p>
        </p:txBody>
      </p:sp>
      <p:sp>
        <p:nvSpPr>
          <p:cNvPr id="6" name="Text 4"/>
          <p:cNvSpPr/>
          <p:nvPr/>
        </p:nvSpPr>
        <p:spPr>
          <a:xfrm>
            <a:off x="995680" y="2499358"/>
            <a:ext cx="15138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Open patient</a:t>
            </a:r>
            <a:endParaRPr lang="en-US" sz="1600" dirty="0"/>
          </a:p>
        </p:txBody>
      </p:sp>
      <p:sp>
        <p:nvSpPr>
          <p:cNvPr id="7" name="Text 5"/>
          <p:cNvSpPr/>
          <p:nvPr/>
        </p:nvSpPr>
        <p:spPr>
          <a:xfrm>
            <a:off x="995680" y="3108958"/>
            <a:ext cx="15138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Pick a patient. The twin loads the record and live data.</a:t>
            </a:r>
            <a:endParaRPr lang="en-US" sz="1200" dirty="0"/>
          </a:p>
        </p:txBody>
      </p:sp>
      <p:sp>
        <p:nvSpPr>
          <p:cNvPr id="8" name="Shape 6"/>
          <p:cNvSpPr/>
          <p:nvPr/>
        </p:nvSpPr>
        <p:spPr>
          <a:xfrm>
            <a:off x="3000375" y="1862460"/>
            <a:ext cx="1822450" cy="2330450"/>
          </a:xfrm>
          <a:prstGeom prst="roundRect">
            <a:avLst>
              <a:gd name="adj" fmla="val 5401"/>
            </a:avLst>
          </a:prstGeom>
          <a:solidFill>
            <a:srgbClr val="FCFBF8"/>
          </a:solidFill>
          <a:ln w="6350">
            <a:solidFill>
              <a:srgbClr val="D5D8CF"/>
            </a:solidFill>
            <a:prstDash val="solid"/>
          </a:ln>
        </p:spPr>
      </p:sp>
      <p:sp>
        <p:nvSpPr>
          <p:cNvPr id="9" name="Text 7"/>
          <p:cNvSpPr/>
          <p:nvPr/>
        </p:nvSpPr>
        <p:spPr>
          <a:xfrm>
            <a:off x="3180080" y="2042158"/>
            <a:ext cx="355600" cy="355600"/>
          </a:xfrm>
          <a:prstGeom prst="roundRect">
            <a:avLst>
              <a:gd name="adj" fmla="val 50000"/>
            </a:avLst>
          </a:prstGeom>
          <a:solidFill>
            <a:srgbClr val="0B6E7C"/>
          </a:solidFill>
          <a:ln/>
        </p:spPr>
        <p:txBody>
          <a:bodyPr wrap="square" lIns="0" tIns="0" rIns="0" bIns="0" rtlCol="0" anchor="ctr">
            <a:normAutofit/>
          </a:bodyPr>
          <a:lstStyle/>
          <a:p>
            <a:pPr algn="ctr" indent="0" marL="0">
              <a:lnSpc>
                <a:spcPts val="1920"/>
              </a:lnSpc>
              <a:buNone/>
            </a:pPr>
            <a:r>
              <a:rPr lang="en-US" sz="1600" b="1" dirty="0">
                <a:solidFill>
                  <a:srgbClr val="FFFFFF"/>
                </a:solidFill>
                <a:latin typeface="IBM Plex Sans" pitchFamily="34" charset="0"/>
                <a:ea typeface="IBM Plex Sans" pitchFamily="34" charset="-122"/>
                <a:cs typeface="IBM Plex Sans" pitchFamily="34" charset="-120"/>
              </a:rPr>
              <a:t>2</a:t>
            </a:r>
            <a:endParaRPr lang="en-US" sz="1600" dirty="0"/>
          </a:p>
        </p:txBody>
      </p:sp>
      <p:sp>
        <p:nvSpPr>
          <p:cNvPr id="10" name="Text 8"/>
          <p:cNvSpPr/>
          <p:nvPr/>
        </p:nvSpPr>
        <p:spPr>
          <a:xfrm>
            <a:off x="3180080" y="2499358"/>
            <a:ext cx="15138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Review risk</a:t>
            </a:r>
            <a:endParaRPr lang="en-US" sz="1600" dirty="0"/>
          </a:p>
        </p:txBody>
      </p:sp>
      <p:sp>
        <p:nvSpPr>
          <p:cNvPr id="11" name="Text 9"/>
          <p:cNvSpPr/>
          <p:nvPr/>
        </p:nvSpPr>
        <p:spPr>
          <a:xfrm>
            <a:off x="3180080" y="3108958"/>
            <a:ext cx="15138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See the risk for the next 2 hours and the forecast band.</a:t>
            </a:r>
            <a:endParaRPr lang="en-US" sz="1200" dirty="0"/>
          </a:p>
        </p:txBody>
      </p:sp>
      <p:sp>
        <p:nvSpPr>
          <p:cNvPr id="12" name="Shape 10"/>
          <p:cNvSpPr/>
          <p:nvPr/>
        </p:nvSpPr>
        <p:spPr>
          <a:xfrm>
            <a:off x="5184775" y="1862460"/>
            <a:ext cx="1822450" cy="2330450"/>
          </a:xfrm>
          <a:prstGeom prst="roundRect">
            <a:avLst>
              <a:gd name="adj" fmla="val 5401"/>
            </a:avLst>
          </a:prstGeom>
          <a:solidFill>
            <a:srgbClr val="FCFBF8"/>
          </a:solidFill>
          <a:ln w="6350">
            <a:solidFill>
              <a:srgbClr val="D5D8CF"/>
            </a:solidFill>
            <a:prstDash val="solid"/>
          </a:ln>
        </p:spPr>
      </p:sp>
      <p:sp>
        <p:nvSpPr>
          <p:cNvPr id="13" name="Text 11"/>
          <p:cNvSpPr/>
          <p:nvPr/>
        </p:nvSpPr>
        <p:spPr>
          <a:xfrm>
            <a:off x="5364480" y="2042158"/>
            <a:ext cx="355600" cy="355600"/>
          </a:xfrm>
          <a:prstGeom prst="roundRect">
            <a:avLst>
              <a:gd name="adj" fmla="val 50000"/>
            </a:avLst>
          </a:prstGeom>
          <a:solidFill>
            <a:srgbClr val="0B6E7C"/>
          </a:solidFill>
          <a:ln/>
        </p:spPr>
        <p:txBody>
          <a:bodyPr wrap="square" lIns="0" tIns="0" rIns="0" bIns="0" rtlCol="0" anchor="ctr">
            <a:normAutofit/>
          </a:bodyPr>
          <a:lstStyle/>
          <a:p>
            <a:pPr algn="ctr" indent="0" marL="0">
              <a:lnSpc>
                <a:spcPts val="1920"/>
              </a:lnSpc>
              <a:buNone/>
            </a:pPr>
            <a:r>
              <a:rPr lang="en-US" sz="1600" b="1" dirty="0">
                <a:solidFill>
                  <a:srgbClr val="FFFFFF"/>
                </a:solidFill>
                <a:latin typeface="IBM Plex Sans" pitchFamily="34" charset="0"/>
                <a:ea typeface="IBM Plex Sans" pitchFamily="34" charset="-122"/>
                <a:cs typeface="IBM Plex Sans" pitchFamily="34" charset="-120"/>
              </a:rPr>
              <a:t>3</a:t>
            </a:r>
            <a:endParaRPr lang="en-US" sz="1600" dirty="0"/>
          </a:p>
        </p:txBody>
      </p:sp>
      <p:sp>
        <p:nvSpPr>
          <p:cNvPr id="14" name="Text 12"/>
          <p:cNvSpPr/>
          <p:nvPr/>
        </p:nvSpPr>
        <p:spPr>
          <a:xfrm>
            <a:off x="5364480" y="2499358"/>
            <a:ext cx="151384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Inspect drivers</a:t>
            </a:r>
            <a:endParaRPr lang="en-US" sz="1600" dirty="0"/>
          </a:p>
        </p:txBody>
      </p:sp>
      <p:sp>
        <p:nvSpPr>
          <p:cNvPr id="15" name="Text 13"/>
          <p:cNvSpPr/>
          <p:nvPr/>
        </p:nvSpPr>
        <p:spPr>
          <a:xfrm>
            <a:off x="5364480" y="3108958"/>
            <a:ext cx="15138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Read the reasons behind the alert in plain English.</a:t>
            </a:r>
            <a:endParaRPr lang="en-US" sz="1200" dirty="0"/>
          </a:p>
        </p:txBody>
      </p:sp>
      <p:sp>
        <p:nvSpPr>
          <p:cNvPr id="16" name="Shape 14"/>
          <p:cNvSpPr/>
          <p:nvPr/>
        </p:nvSpPr>
        <p:spPr>
          <a:xfrm>
            <a:off x="7369175" y="1862460"/>
            <a:ext cx="1822450" cy="2330450"/>
          </a:xfrm>
          <a:prstGeom prst="roundRect">
            <a:avLst>
              <a:gd name="adj" fmla="val 5401"/>
            </a:avLst>
          </a:prstGeom>
          <a:solidFill>
            <a:srgbClr val="FCFBF8"/>
          </a:solidFill>
          <a:ln w="6350">
            <a:solidFill>
              <a:srgbClr val="D5D8CF"/>
            </a:solidFill>
            <a:prstDash val="solid"/>
          </a:ln>
        </p:spPr>
      </p:sp>
      <p:sp>
        <p:nvSpPr>
          <p:cNvPr id="17" name="Text 15"/>
          <p:cNvSpPr/>
          <p:nvPr/>
        </p:nvSpPr>
        <p:spPr>
          <a:xfrm>
            <a:off x="7548880" y="2042158"/>
            <a:ext cx="355600" cy="355600"/>
          </a:xfrm>
          <a:prstGeom prst="roundRect">
            <a:avLst>
              <a:gd name="adj" fmla="val 50000"/>
            </a:avLst>
          </a:prstGeom>
          <a:solidFill>
            <a:srgbClr val="0B6E7C"/>
          </a:solidFill>
          <a:ln/>
        </p:spPr>
        <p:txBody>
          <a:bodyPr wrap="square" lIns="0" tIns="0" rIns="0" bIns="0" rtlCol="0" anchor="ctr">
            <a:normAutofit/>
          </a:bodyPr>
          <a:lstStyle/>
          <a:p>
            <a:pPr algn="ctr" indent="0" marL="0">
              <a:lnSpc>
                <a:spcPts val="1920"/>
              </a:lnSpc>
              <a:buNone/>
            </a:pPr>
            <a:r>
              <a:rPr lang="en-US" sz="1600" b="1" dirty="0">
                <a:solidFill>
                  <a:srgbClr val="FFFFFF"/>
                </a:solidFill>
                <a:latin typeface="IBM Plex Sans" pitchFamily="34" charset="0"/>
                <a:ea typeface="IBM Plex Sans" pitchFamily="34" charset="-122"/>
                <a:cs typeface="IBM Plex Sans" pitchFamily="34" charset="-120"/>
              </a:rPr>
              <a:t>4</a:t>
            </a:r>
            <a:endParaRPr lang="en-US" sz="1600" dirty="0"/>
          </a:p>
        </p:txBody>
      </p:sp>
      <p:sp>
        <p:nvSpPr>
          <p:cNvPr id="18" name="Text 16"/>
          <p:cNvSpPr/>
          <p:nvPr/>
        </p:nvSpPr>
        <p:spPr>
          <a:xfrm>
            <a:off x="7548880" y="2499358"/>
            <a:ext cx="151384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Ask what if</a:t>
            </a:r>
            <a:endParaRPr lang="en-US" sz="1600" dirty="0"/>
          </a:p>
        </p:txBody>
      </p:sp>
      <p:sp>
        <p:nvSpPr>
          <p:cNvPr id="19" name="Text 17"/>
          <p:cNvSpPr/>
          <p:nvPr/>
        </p:nvSpPr>
        <p:spPr>
          <a:xfrm>
            <a:off x="7548880" y="3108958"/>
            <a:ext cx="15138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Test a meal swap, a walk or an earlier dinner.</a:t>
            </a:r>
            <a:endParaRPr lang="en-US" sz="1200" dirty="0"/>
          </a:p>
        </p:txBody>
      </p:sp>
      <p:sp>
        <p:nvSpPr>
          <p:cNvPr id="20" name="Shape 18"/>
          <p:cNvSpPr/>
          <p:nvPr/>
        </p:nvSpPr>
        <p:spPr>
          <a:xfrm>
            <a:off x="9553575" y="1862460"/>
            <a:ext cx="1822450" cy="2330450"/>
          </a:xfrm>
          <a:prstGeom prst="roundRect">
            <a:avLst>
              <a:gd name="adj" fmla="val 5401"/>
            </a:avLst>
          </a:prstGeom>
          <a:solidFill>
            <a:srgbClr val="FCFBF8"/>
          </a:solidFill>
          <a:ln w="6350">
            <a:solidFill>
              <a:srgbClr val="D5D8CF"/>
            </a:solidFill>
            <a:prstDash val="solid"/>
          </a:ln>
        </p:spPr>
      </p:sp>
      <p:sp>
        <p:nvSpPr>
          <p:cNvPr id="21" name="Text 19"/>
          <p:cNvSpPr/>
          <p:nvPr/>
        </p:nvSpPr>
        <p:spPr>
          <a:xfrm>
            <a:off x="9733280" y="2042158"/>
            <a:ext cx="355600" cy="355600"/>
          </a:xfrm>
          <a:prstGeom prst="roundRect">
            <a:avLst>
              <a:gd name="adj" fmla="val 50000"/>
            </a:avLst>
          </a:prstGeom>
          <a:solidFill>
            <a:srgbClr val="0B6E7C"/>
          </a:solidFill>
          <a:ln/>
        </p:spPr>
        <p:txBody>
          <a:bodyPr wrap="square" lIns="0" tIns="0" rIns="0" bIns="0" rtlCol="0" anchor="ctr">
            <a:normAutofit/>
          </a:bodyPr>
          <a:lstStyle/>
          <a:p>
            <a:pPr algn="ctr" indent="0" marL="0">
              <a:lnSpc>
                <a:spcPts val="1920"/>
              </a:lnSpc>
              <a:buNone/>
            </a:pPr>
            <a:r>
              <a:rPr lang="en-US" sz="1600" b="1" dirty="0">
                <a:solidFill>
                  <a:srgbClr val="FFFFFF"/>
                </a:solidFill>
                <a:latin typeface="IBM Plex Sans" pitchFamily="34" charset="0"/>
                <a:ea typeface="IBM Plex Sans" pitchFamily="34" charset="-122"/>
                <a:cs typeface="IBM Plex Sans" pitchFamily="34" charset="-120"/>
              </a:rPr>
              <a:t>5</a:t>
            </a:r>
            <a:endParaRPr lang="en-US" sz="1600" dirty="0"/>
          </a:p>
        </p:txBody>
      </p:sp>
      <p:sp>
        <p:nvSpPr>
          <p:cNvPr id="22" name="Text 20"/>
          <p:cNvSpPr/>
          <p:nvPr/>
        </p:nvSpPr>
        <p:spPr>
          <a:xfrm>
            <a:off x="9733280" y="2499358"/>
            <a:ext cx="151384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Record the plan</a:t>
            </a:r>
            <a:endParaRPr lang="en-US" sz="1600" dirty="0"/>
          </a:p>
        </p:txBody>
      </p:sp>
      <p:sp>
        <p:nvSpPr>
          <p:cNvPr id="23" name="Text 21"/>
          <p:cNvSpPr/>
          <p:nvPr/>
        </p:nvSpPr>
        <p:spPr>
          <a:xfrm>
            <a:off x="9733280" y="3108958"/>
            <a:ext cx="15138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Note the advice. Writing back to the EHR is future work.</a:t>
            </a:r>
            <a:endParaRPr lang="en-US" sz="1200" dirty="0"/>
          </a:p>
        </p:txBody>
      </p:sp>
      <p:pic>
        <p:nvPicPr>
          <p:cNvPr id="24" name="Image 0" descr="connector">    </p:cNvPr>
          <p:cNvPicPr>
            <a:picLocks noChangeAspect="1"/>
          </p:cNvPicPr>
          <p:nvPr/>
        </p:nvPicPr>
        <p:blipFill>
          <a:blip r:embed="rId1"/>
          <a:srcRect l="0" r="0" t="0" b="0"/>
          <a:stretch/>
        </p:blipFill>
        <p:spPr>
          <a:xfrm>
            <a:off x="2590800" y="2164085"/>
            <a:ext cx="457200" cy="101600"/>
          </a:xfrm>
          <a:prstGeom prst="rect">
            <a:avLst/>
          </a:prstGeom>
        </p:spPr>
      </p:pic>
      <p:pic>
        <p:nvPicPr>
          <p:cNvPr id="25" name="Image 1" descr="connector">    </p:cNvPr>
          <p:cNvPicPr>
            <a:picLocks noChangeAspect="1"/>
          </p:cNvPicPr>
          <p:nvPr/>
        </p:nvPicPr>
        <p:blipFill>
          <a:blip r:embed="rId2"/>
          <a:srcRect l="0" r="0" t="0" b="0"/>
          <a:stretch/>
        </p:blipFill>
        <p:spPr>
          <a:xfrm>
            <a:off x="4775200" y="2164085"/>
            <a:ext cx="457200" cy="101600"/>
          </a:xfrm>
          <a:prstGeom prst="rect">
            <a:avLst/>
          </a:prstGeom>
        </p:spPr>
      </p:pic>
      <p:pic>
        <p:nvPicPr>
          <p:cNvPr id="26" name="Image 2" descr="connector">    </p:cNvPr>
          <p:cNvPicPr>
            <a:picLocks noChangeAspect="1"/>
          </p:cNvPicPr>
          <p:nvPr/>
        </p:nvPicPr>
        <p:blipFill>
          <a:blip r:embed="rId3"/>
          <a:srcRect l="0" r="0" t="0" b="0"/>
          <a:stretch/>
        </p:blipFill>
        <p:spPr>
          <a:xfrm>
            <a:off x="6959600" y="2164085"/>
            <a:ext cx="457200" cy="101600"/>
          </a:xfrm>
          <a:prstGeom prst="rect">
            <a:avLst/>
          </a:prstGeom>
        </p:spPr>
      </p:pic>
      <p:pic>
        <p:nvPicPr>
          <p:cNvPr id="27" name="Image 3" descr="connector">    </p:cNvPr>
          <p:cNvPicPr>
            <a:picLocks noChangeAspect="1"/>
          </p:cNvPicPr>
          <p:nvPr/>
        </p:nvPicPr>
        <p:blipFill>
          <a:blip r:embed="rId4"/>
          <a:srcRect l="0" r="0" t="0" b="0"/>
          <a:stretch/>
        </p:blipFill>
        <p:spPr>
          <a:xfrm>
            <a:off x="9144000" y="2164085"/>
            <a:ext cx="457200" cy="101600"/>
          </a:xfrm>
          <a:prstGeom prst="rect">
            <a:avLst/>
          </a:prstGeom>
        </p:spPr>
      </p:pic>
      <p:sp>
        <p:nvSpPr>
          <p:cNvPr id="28" name="Shape 22"/>
          <p:cNvSpPr/>
          <p:nvPr/>
        </p:nvSpPr>
        <p:spPr>
          <a:xfrm>
            <a:off x="812800" y="4450085"/>
            <a:ext cx="10566400" cy="548640"/>
          </a:xfrm>
          <a:prstGeom prst="roundRect">
            <a:avLst>
              <a:gd name="adj" fmla="val 18519"/>
            </a:avLst>
          </a:prstGeom>
          <a:solidFill>
            <a:srgbClr val="F8E5D0"/>
          </a:solidFill>
          <a:ln/>
        </p:spPr>
      </p:sp>
      <p:sp>
        <p:nvSpPr>
          <p:cNvPr id="29" name="Text 23"/>
          <p:cNvSpPr/>
          <p:nvPr/>
        </p:nvSpPr>
        <p:spPr>
          <a:xfrm>
            <a:off x="1041400" y="4602485"/>
            <a:ext cx="17018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A3A05"/>
                </a:solidFill>
                <a:latin typeface="IBM Plex Sans" pitchFamily="34" charset="0"/>
                <a:ea typeface="IBM Plex Sans" pitchFamily="34" charset="-122"/>
                <a:cs typeface="IBM Plex Sans" pitchFamily="34" charset="-120"/>
              </a:rPr>
              <a:t>Replay mode</a:t>
            </a:r>
            <a:endParaRPr lang="en-US" sz="1600" dirty="0"/>
          </a:p>
        </p:txBody>
      </p:sp>
      <p:sp>
        <p:nvSpPr>
          <p:cNvPr id="30" name="Text 24"/>
          <p:cNvSpPr/>
          <p:nvPr/>
        </p:nvSpPr>
        <p:spPr>
          <a:xfrm>
            <a:off x="2895600" y="4617727"/>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3A05"/>
                </a:solidFill>
                <a:latin typeface="IBM Plex Sans" pitchFamily="34" charset="0"/>
                <a:ea typeface="IBM Plex Sans" pitchFamily="34" charset="-122"/>
                <a:cs typeface="IBM Plex Sans" pitchFamily="34" charset="-120"/>
              </a:rPr>
              <a:t>The prototype streams recorded data as if it were live. Every synthetic patient carries a SYNTHETIC label.</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TRUST</a:t>
            </a:r>
            <a:endParaRPr lang="en-US" sz="1200" dirty="0"/>
          </a:p>
        </p:txBody>
      </p:sp>
      <p:sp>
        <p:nvSpPr>
          <p:cNvPr id="3" name="Text 1"/>
          <p:cNvSpPr/>
          <p:nvPr>
            <p:ph type="title"/>
          </p:nvPr>
        </p:nvSpPr>
        <p:spPr>
          <a:xfrm>
            <a:off x="812800" y="11023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Limitations and ethics</a:t>
            </a:r>
            <a:endParaRPr lang="en-US" sz="3600" dirty="0"/>
          </a:p>
        </p:txBody>
      </p:sp>
      <p:sp>
        <p:nvSpPr>
          <p:cNvPr id="4" name="Shape 2"/>
          <p:cNvSpPr/>
          <p:nvPr/>
        </p:nvSpPr>
        <p:spPr>
          <a:xfrm>
            <a:off x="815975" y="1862460"/>
            <a:ext cx="3397250" cy="1583690"/>
          </a:xfrm>
          <a:prstGeom prst="roundRect">
            <a:avLst>
              <a:gd name="adj" fmla="val 6215"/>
            </a:avLst>
          </a:prstGeom>
          <a:solidFill>
            <a:srgbClr val="FCFBF8"/>
          </a:solidFill>
          <a:ln w="6350">
            <a:solidFill>
              <a:srgbClr val="C7D8D4"/>
            </a:solidFill>
            <a:prstDash val="solid"/>
          </a:ln>
        </p:spPr>
      </p:sp>
      <p:sp>
        <p:nvSpPr>
          <p:cNvPr id="5" name="Text 3"/>
          <p:cNvSpPr/>
          <p:nvPr/>
        </p:nvSpPr>
        <p:spPr>
          <a:xfrm>
            <a:off x="995680" y="2042158"/>
            <a:ext cx="31289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DATA</a:t>
            </a:r>
            <a:endParaRPr lang="en-US" sz="1200" dirty="0"/>
          </a:p>
        </p:txBody>
      </p:sp>
      <p:sp>
        <p:nvSpPr>
          <p:cNvPr id="6" name="Text 4"/>
          <p:cNvSpPr/>
          <p:nvPr/>
        </p:nvSpPr>
        <p:spPr>
          <a:xfrm>
            <a:off x="995680" y="2319027"/>
            <a:ext cx="31289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Small cohorts</a:t>
            </a:r>
            <a:endParaRPr lang="en-US" sz="1600" dirty="0"/>
          </a:p>
        </p:txBody>
      </p:sp>
      <p:sp>
        <p:nvSpPr>
          <p:cNvPr id="7" name="Text 5"/>
          <p:cNvSpPr/>
          <p:nvPr/>
        </p:nvSpPr>
        <p:spPr>
          <a:xfrm>
            <a:off x="995680" y="2626358"/>
            <a:ext cx="312897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The main dataset has 45 adults, so confidence intervals are wide and subgroup results are indicative.</a:t>
            </a:r>
            <a:endParaRPr lang="en-US" sz="1200" dirty="0"/>
          </a:p>
        </p:txBody>
      </p:sp>
      <p:sp>
        <p:nvSpPr>
          <p:cNvPr id="8" name="Shape 6"/>
          <p:cNvSpPr/>
          <p:nvPr/>
        </p:nvSpPr>
        <p:spPr>
          <a:xfrm>
            <a:off x="4397375" y="1862460"/>
            <a:ext cx="3397250" cy="1583690"/>
          </a:xfrm>
          <a:prstGeom prst="roundRect">
            <a:avLst>
              <a:gd name="adj" fmla="val 6215"/>
            </a:avLst>
          </a:prstGeom>
          <a:solidFill>
            <a:srgbClr val="FCFBF8"/>
          </a:solidFill>
          <a:ln w="6350">
            <a:solidFill>
              <a:srgbClr val="C7D8D4"/>
            </a:solidFill>
            <a:prstDash val="solid"/>
          </a:ln>
        </p:spPr>
      </p:sp>
      <p:sp>
        <p:nvSpPr>
          <p:cNvPr id="9" name="Text 7"/>
          <p:cNvSpPr/>
          <p:nvPr/>
        </p:nvSpPr>
        <p:spPr>
          <a:xfrm>
            <a:off x="4577080" y="2042158"/>
            <a:ext cx="31289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DATA</a:t>
            </a:r>
            <a:endParaRPr lang="en-US" sz="1200" dirty="0"/>
          </a:p>
        </p:txBody>
      </p:sp>
      <p:sp>
        <p:nvSpPr>
          <p:cNvPr id="10" name="Text 8"/>
          <p:cNvSpPr/>
          <p:nvPr/>
        </p:nvSpPr>
        <p:spPr>
          <a:xfrm>
            <a:off x="4577080" y="2319027"/>
            <a:ext cx="31289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Domain shift</a:t>
            </a:r>
            <a:endParaRPr lang="en-US" sz="1600" dirty="0"/>
          </a:p>
        </p:txBody>
      </p:sp>
      <p:sp>
        <p:nvSpPr>
          <p:cNvPr id="11" name="Text 9"/>
          <p:cNvSpPr/>
          <p:nvPr/>
        </p:nvSpPr>
        <p:spPr>
          <a:xfrm>
            <a:off x="4577080" y="2626358"/>
            <a:ext cx="312897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CGMacros was recruited in Santa Barbara, California. Indian diets, drugs and sensors differ, so local validation is essential.</a:t>
            </a:r>
            <a:endParaRPr lang="en-US" sz="1200" dirty="0"/>
          </a:p>
        </p:txBody>
      </p:sp>
      <p:sp>
        <p:nvSpPr>
          <p:cNvPr id="12" name="Shape 10"/>
          <p:cNvSpPr/>
          <p:nvPr/>
        </p:nvSpPr>
        <p:spPr>
          <a:xfrm>
            <a:off x="7978775" y="1862460"/>
            <a:ext cx="3397250" cy="1583690"/>
          </a:xfrm>
          <a:prstGeom prst="roundRect">
            <a:avLst>
              <a:gd name="adj" fmla="val 6215"/>
            </a:avLst>
          </a:prstGeom>
          <a:solidFill>
            <a:srgbClr val="FCFBF8"/>
          </a:solidFill>
          <a:ln w="6350">
            <a:solidFill>
              <a:srgbClr val="C7D8D4"/>
            </a:solidFill>
            <a:prstDash val="solid"/>
          </a:ln>
        </p:spPr>
      </p:sp>
      <p:sp>
        <p:nvSpPr>
          <p:cNvPr id="13" name="Text 11"/>
          <p:cNvSpPr/>
          <p:nvPr/>
        </p:nvSpPr>
        <p:spPr>
          <a:xfrm>
            <a:off x="8158480" y="2042158"/>
            <a:ext cx="31289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DATA</a:t>
            </a:r>
            <a:endParaRPr lang="en-US" sz="1200" dirty="0"/>
          </a:p>
        </p:txBody>
      </p:sp>
      <p:sp>
        <p:nvSpPr>
          <p:cNvPr id="14" name="Text 12"/>
          <p:cNvSpPr/>
          <p:nvPr/>
        </p:nvSpPr>
        <p:spPr>
          <a:xfrm>
            <a:off x="8158480" y="2319027"/>
            <a:ext cx="31289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Synthetic data</a:t>
            </a:r>
            <a:endParaRPr lang="en-US" sz="1600" dirty="0"/>
          </a:p>
        </p:txBody>
      </p:sp>
      <p:sp>
        <p:nvSpPr>
          <p:cNvPr id="15" name="Text 13"/>
          <p:cNvSpPr/>
          <p:nvPr/>
        </p:nvSpPr>
        <p:spPr>
          <a:xfrm>
            <a:off x="8158480" y="2626358"/>
            <a:ext cx="312897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Our generator tests the pipeline and the what-if engine. It says nothing about accuracy on real patients.</a:t>
            </a:r>
            <a:endParaRPr lang="en-US" sz="1200" dirty="0"/>
          </a:p>
        </p:txBody>
      </p:sp>
      <p:sp>
        <p:nvSpPr>
          <p:cNvPr id="16" name="Shape 14"/>
          <p:cNvSpPr/>
          <p:nvPr/>
        </p:nvSpPr>
        <p:spPr>
          <a:xfrm>
            <a:off x="815975" y="3630302"/>
            <a:ext cx="3397250" cy="1583690"/>
          </a:xfrm>
          <a:prstGeom prst="roundRect">
            <a:avLst>
              <a:gd name="adj" fmla="val 6215"/>
            </a:avLst>
          </a:prstGeom>
          <a:solidFill>
            <a:srgbClr val="FCFBF8"/>
          </a:solidFill>
          <a:ln w="6350">
            <a:solidFill>
              <a:srgbClr val="C7D8D4"/>
            </a:solidFill>
            <a:prstDash val="solid"/>
          </a:ln>
        </p:spPr>
      </p:sp>
      <p:sp>
        <p:nvSpPr>
          <p:cNvPr id="17" name="Text 15"/>
          <p:cNvSpPr/>
          <p:nvPr/>
        </p:nvSpPr>
        <p:spPr>
          <a:xfrm>
            <a:off x="995680" y="3810000"/>
            <a:ext cx="31289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MODEL</a:t>
            </a:r>
            <a:endParaRPr lang="en-US" sz="1200" dirty="0"/>
          </a:p>
        </p:txBody>
      </p:sp>
      <p:sp>
        <p:nvSpPr>
          <p:cNvPr id="18" name="Text 16"/>
          <p:cNvSpPr/>
          <p:nvPr/>
        </p:nvSpPr>
        <p:spPr>
          <a:xfrm>
            <a:off x="995680" y="4086858"/>
            <a:ext cx="31289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Not causal</a:t>
            </a:r>
            <a:endParaRPr lang="en-US" sz="1600" dirty="0"/>
          </a:p>
        </p:txBody>
      </p:sp>
      <p:sp>
        <p:nvSpPr>
          <p:cNvPr id="19" name="Text 17"/>
          <p:cNvSpPr/>
          <p:nvPr/>
        </p:nvSpPr>
        <p:spPr>
          <a:xfrm>
            <a:off x="995680" y="4394200"/>
            <a:ext cx="312897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What-if answers are simulations under labelled assumptions, not predictions of what will happen to a patient.</a:t>
            </a:r>
            <a:endParaRPr lang="en-US" sz="1200" dirty="0"/>
          </a:p>
        </p:txBody>
      </p:sp>
      <p:sp>
        <p:nvSpPr>
          <p:cNvPr id="20" name="Shape 18"/>
          <p:cNvSpPr/>
          <p:nvPr/>
        </p:nvSpPr>
        <p:spPr>
          <a:xfrm>
            <a:off x="4397375" y="3630302"/>
            <a:ext cx="3397250" cy="1583690"/>
          </a:xfrm>
          <a:prstGeom prst="roundRect">
            <a:avLst>
              <a:gd name="adj" fmla="val 6215"/>
            </a:avLst>
          </a:prstGeom>
          <a:solidFill>
            <a:srgbClr val="FCFBF8"/>
          </a:solidFill>
          <a:ln w="6350">
            <a:solidFill>
              <a:srgbClr val="C7D8D4"/>
            </a:solidFill>
            <a:prstDash val="solid"/>
          </a:ln>
        </p:spPr>
      </p:sp>
      <p:sp>
        <p:nvSpPr>
          <p:cNvPr id="21" name="Text 19"/>
          <p:cNvSpPr/>
          <p:nvPr/>
        </p:nvSpPr>
        <p:spPr>
          <a:xfrm>
            <a:off x="4577080" y="3810000"/>
            <a:ext cx="31289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MODEL</a:t>
            </a:r>
            <a:endParaRPr lang="en-US" sz="1200" dirty="0"/>
          </a:p>
        </p:txBody>
      </p:sp>
      <p:sp>
        <p:nvSpPr>
          <p:cNvPr id="22" name="Text 20"/>
          <p:cNvSpPr/>
          <p:nvPr/>
        </p:nvSpPr>
        <p:spPr>
          <a:xfrm>
            <a:off x="4577080" y="4086858"/>
            <a:ext cx="31289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Alert fatigue</a:t>
            </a:r>
            <a:endParaRPr lang="en-US" sz="1600" dirty="0"/>
          </a:p>
        </p:txBody>
      </p:sp>
      <p:sp>
        <p:nvSpPr>
          <p:cNvPr id="23" name="Text 21"/>
          <p:cNvSpPr/>
          <p:nvPr/>
        </p:nvSpPr>
        <p:spPr>
          <a:xfrm>
            <a:off x="4577080" y="4394200"/>
            <a:ext cx="312897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 false-alert budget and a 60-minute cooldown cap how often a patient is warned, at some cost in sensitivity.</a:t>
            </a:r>
            <a:endParaRPr lang="en-US" sz="1200" dirty="0"/>
          </a:p>
        </p:txBody>
      </p:sp>
      <p:sp>
        <p:nvSpPr>
          <p:cNvPr id="24" name="Shape 22"/>
          <p:cNvSpPr/>
          <p:nvPr/>
        </p:nvSpPr>
        <p:spPr>
          <a:xfrm>
            <a:off x="7978775" y="3630302"/>
            <a:ext cx="3397250" cy="1583690"/>
          </a:xfrm>
          <a:prstGeom prst="roundRect">
            <a:avLst>
              <a:gd name="adj" fmla="val 6215"/>
            </a:avLst>
          </a:prstGeom>
          <a:solidFill>
            <a:srgbClr val="FCFBF8"/>
          </a:solidFill>
          <a:ln w="6350">
            <a:solidFill>
              <a:srgbClr val="C7D8D4"/>
            </a:solidFill>
            <a:prstDash val="solid"/>
          </a:ln>
        </p:spPr>
      </p:sp>
      <p:sp>
        <p:nvSpPr>
          <p:cNvPr id="25" name="Text 23"/>
          <p:cNvSpPr/>
          <p:nvPr/>
        </p:nvSpPr>
        <p:spPr>
          <a:xfrm>
            <a:off x="8158480" y="3810000"/>
            <a:ext cx="312897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USE</a:t>
            </a:r>
            <a:endParaRPr lang="en-US" sz="1200" dirty="0"/>
          </a:p>
        </p:txBody>
      </p:sp>
      <p:sp>
        <p:nvSpPr>
          <p:cNvPr id="26" name="Text 24"/>
          <p:cNvSpPr/>
          <p:nvPr/>
        </p:nvSpPr>
        <p:spPr>
          <a:xfrm>
            <a:off x="8158480" y="4086858"/>
            <a:ext cx="31289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Not a medical device</a:t>
            </a:r>
            <a:endParaRPr lang="en-US" sz="1600" dirty="0"/>
          </a:p>
        </p:txBody>
      </p:sp>
      <p:sp>
        <p:nvSpPr>
          <p:cNvPr id="27" name="Text 25"/>
          <p:cNvSpPr/>
          <p:nvPr/>
        </p:nvSpPr>
        <p:spPr>
          <a:xfrm>
            <a:off x="8158480" y="4394200"/>
            <a:ext cx="312897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 research prototype using anonymised and synthetic data only, in line with the DPDP Act and HIPAA. No clinical advice.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CLINIC</a:t>
            </a:r>
            <a:endParaRPr lang="en-US" sz="1200" dirty="0"/>
          </a:p>
        </p:txBody>
      </p:sp>
      <p:sp>
        <p:nvSpPr>
          <p:cNvPr id="3" name="Text 1"/>
          <p:cNvSpPr/>
          <p:nvPr>
            <p:ph type="title"/>
          </p:nvPr>
        </p:nvSpPr>
        <p:spPr>
          <a:xfrm>
            <a:off x="812800" y="11023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Roadmap</a:t>
            </a:r>
            <a:endParaRPr lang="en-US" sz="3600" dirty="0"/>
          </a:p>
        </p:txBody>
      </p:sp>
      <p:sp>
        <p:nvSpPr>
          <p:cNvPr id="4" name="Shape 2"/>
          <p:cNvSpPr/>
          <p:nvPr/>
        </p:nvSpPr>
        <p:spPr>
          <a:xfrm>
            <a:off x="914400" y="1948185"/>
            <a:ext cx="10464800" cy="25400"/>
          </a:xfrm>
          <a:prstGeom prst="rect">
            <a:avLst/>
          </a:prstGeom>
          <a:solidFill>
            <a:srgbClr val="B9CFCB"/>
          </a:solidFill>
          <a:ln/>
        </p:spPr>
      </p:sp>
      <p:sp>
        <p:nvSpPr>
          <p:cNvPr id="5" name="Shape 3"/>
          <p:cNvSpPr/>
          <p:nvPr/>
        </p:nvSpPr>
        <p:spPr>
          <a:xfrm>
            <a:off x="812800" y="1859285"/>
            <a:ext cx="203200" cy="203200"/>
          </a:xfrm>
          <a:prstGeom prst="roundRect">
            <a:avLst>
              <a:gd name="adj" fmla="val 50000"/>
            </a:avLst>
          </a:prstGeom>
          <a:solidFill>
            <a:srgbClr val="0B6E7C"/>
          </a:solidFill>
          <a:ln/>
        </p:spPr>
      </p:sp>
      <p:sp>
        <p:nvSpPr>
          <p:cNvPr id="6" name="Shape 4"/>
          <p:cNvSpPr/>
          <p:nvPr/>
        </p:nvSpPr>
        <p:spPr>
          <a:xfrm>
            <a:off x="4483100" y="1871985"/>
            <a:ext cx="177800" cy="177800"/>
          </a:xfrm>
          <a:prstGeom prst="roundRect">
            <a:avLst>
              <a:gd name="adj" fmla="val 50000"/>
            </a:avLst>
          </a:prstGeom>
          <a:solidFill>
            <a:srgbClr val="F5F3EC"/>
          </a:solidFill>
          <a:ln w="25400">
            <a:solidFill>
              <a:srgbClr val="0B6E7C"/>
            </a:solidFill>
            <a:prstDash val="solid"/>
          </a:ln>
        </p:spPr>
      </p:sp>
      <p:sp>
        <p:nvSpPr>
          <p:cNvPr id="7" name="Shape 5"/>
          <p:cNvSpPr/>
          <p:nvPr/>
        </p:nvSpPr>
        <p:spPr>
          <a:xfrm>
            <a:off x="8140700" y="1871985"/>
            <a:ext cx="177800" cy="177800"/>
          </a:xfrm>
          <a:prstGeom prst="roundRect">
            <a:avLst>
              <a:gd name="adj" fmla="val 50000"/>
            </a:avLst>
          </a:prstGeom>
          <a:solidFill>
            <a:srgbClr val="F5F3EC"/>
          </a:solidFill>
          <a:ln w="25400">
            <a:solidFill>
              <a:srgbClr val="6E9A9D"/>
            </a:solidFill>
            <a:prstDash val="solid"/>
          </a:ln>
        </p:spPr>
      </p:sp>
      <p:sp>
        <p:nvSpPr>
          <p:cNvPr id="8" name="Text 6"/>
          <p:cNvSpPr/>
          <p:nvPr/>
        </p:nvSpPr>
        <p:spPr>
          <a:xfrm>
            <a:off x="812800" y="2265685"/>
            <a:ext cx="722233" cy="284480"/>
          </a:xfrm>
          <a:prstGeom prst="roundRect">
            <a:avLst>
              <a:gd name="adj" fmla="val 50000"/>
            </a:avLst>
          </a:prstGeom>
          <a:solidFill>
            <a:srgbClr val="0B6E7C"/>
          </a:solidFill>
          <a:ln/>
        </p:spPr>
        <p:txBody>
          <a:bodyPr wrap="none" lIns="0" tIns="0" rIns="0" bIns="0" rtlCol="0" anchor="ctr">
            <a:normAutofit/>
          </a:bodyPr>
          <a:lstStyle/>
          <a:p>
            <a:pPr algn="ctr" indent="0" marL="0">
              <a:lnSpc>
                <a:spcPts val="1440"/>
              </a:lnSpc>
              <a:buNone/>
            </a:pPr>
            <a:r>
              <a:rPr lang="en-US" sz="1200" b="1" spc="150" kern="0" dirty="0">
                <a:solidFill>
                  <a:srgbClr val="FFFFFF"/>
                </a:solidFill>
                <a:latin typeface="IBM Plex Sans" pitchFamily="34" charset="0"/>
                <a:ea typeface="IBM Plex Sans" pitchFamily="34" charset="-122"/>
                <a:cs typeface="IBM Plex Sans" pitchFamily="34" charset="-120"/>
              </a:rPr>
              <a:t>NOW</a:t>
            </a:r>
            <a:endParaRPr lang="en-US" sz="1200" dirty="0"/>
          </a:p>
        </p:txBody>
      </p:sp>
      <p:sp>
        <p:nvSpPr>
          <p:cNvPr id="9" name="Text 7"/>
          <p:cNvSpPr/>
          <p:nvPr/>
        </p:nvSpPr>
        <p:spPr>
          <a:xfrm>
            <a:off x="812800" y="2651758"/>
            <a:ext cx="33487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Proof of concept</a:t>
            </a:r>
            <a:endParaRPr lang="en-US" sz="2200" dirty="0"/>
          </a:p>
        </p:txBody>
      </p:sp>
      <p:sp>
        <p:nvSpPr>
          <p:cNvPr id="10" name="Shape 8"/>
          <p:cNvSpPr/>
          <p:nvPr/>
        </p:nvSpPr>
        <p:spPr>
          <a:xfrm>
            <a:off x="812800" y="3091817"/>
            <a:ext cx="3251200" cy="0"/>
          </a:xfrm>
          <a:prstGeom prst="line">
            <a:avLst/>
          </a:prstGeom>
          <a:noFill/>
          <a:ln w="6350">
            <a:solidFill>
              <a:srgbClr val="D5D8CF"/>
            </a:solidFill>
            <a:prstDash val="solid"/>
          </a:ln>
        </p:spPr>
      </p:sp>
      <p:sp>
        <p:nvSpPr>
          <p:cNvPr id="11" name="Text 9"/>
          <p:cNvSpPr/>
          <p:nvPr/>
        </p:nvSpPr>
        <p:spPr>
          <a:xfrm>
            <a:off x="812800" y="3195322"/>
            <a:ext cx="334873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Glucose twin on open and synthetic data</a:t>
            </a:r>
            <a:endParaRPr lang="en-US" sz="1600" dirty="0"/>
          </a:p>
        </p:txBody>
      </p:sp>
      <p:sp>
        <p:nvSpPr>
          <p:cNvPr id="12" name="Shape 10"/>
          <p:cNvSpPr/>
          <p:nvPr/>
        </p:nvSpPr>
        <p:spPr>
          <a:xfrm>
            <a:off x="812800" y="3828417"/>
            <a:ext cx="3251200" cy="0"/>
          </a:xfrm>
          <a:prstGeom prst="line">
            <a:avLst/>
          </a:prstGeom>
          <a:noFill/>
          <a:ln w="6350">
            <a:solidFill>
              <a:srgbClr val="D5D8CF"/>
            </a:solidFill>
            <a:prstDash val="solid"/>
          </a:ln>
        </p:spPr>
      </p:sp>
      <p:sp>
        <p:nvSpPr>
          <p:cNvPr id="13" name="Text 11"/>
          <p:cNvSpPr/>
          <p:nvPr/>
        </p:nvSpPr>
        <p:spPr>
          <a:xfrm>
            <a:off x="812800" y="3931922"/>
            <a:ext cx="334873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EHR, CGM and wearables fused in one model</a:t>
            </a:r>
            <a:endParaRPr lang="en-US" sz="1600" dirty="0"/>
          </a:p>
        </p:txBody>
      </p:sp>
      <p:sp>
        <p:nvSpPr>
          <p:cNvPr id="14" name="Shape 12"/>
          <p:cNvSpPr/>
          <p:nvPr/>
        </p:nvSpPr>
        <p:spPr>
          <a:xfrm>
            <a:off x="812800" y="4565017"/>
            <a:ext cx="3251200" cy="0"/>
          </a:xfrm>
          <a:prstGeom prst="line">
            <a:avLst/>
          </a:prstGeom>
          <a:noFill/>
          <a:ln w="6350">
            <a:solidFill>
              <a:srgbClr val="D5D8CF"/>
            </a:solidFill>
            <a:prstDash val="solid"/>
          </a:ln>
        </p:spPr>
      </p:sp>
      <p:sp>
        <p:nvSpPr>
          <p:cNvPr id="15" name="Text 13"/>
          <p:cNvSpPr/>
          <p:nvPr/>
        </p:nvSpPr>
        <p:spPr>
          <a:xfrm>
            <a:off x="812800" y="4668522"/>
            <a:ext cx="334873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Explained alerts and a doctor dashboard</a:t>
            </a:r>
            <a:endParaRPr lang="en-US" sz="1600" dirty="0"/>
          </a:p>
        </p:txBody>
      </p:sp>
      <p:sp>
        <p:nvSpPr>
          <p:cNvPr id="16" name="Text 14"/>
          <p:cNvSpPr/>
          <p:nvPr/>
        </p:nvSpPr>
        <p:spPr>
          <a:xfrm>
            <a:off x="4470400" y="2265685"/>
            <a:ext cx="770255" cy="284480"/>
          </a:xfrm>
          <a:prstGeom prst="roundRect">
            <a:avLst>
              <a:gd name="adj" fmla="val 50000"/>
            </a:avLst>
          </a:prstGeom>
          <a:solidFill>
            <a:srgbClr val="D3E7E6"/>
          </a:solidFill>
          <a:ln/>
        </p:spPr>
        <p:txBody>
          <a:bodyPr wrap="none" lIns="0" tIns="0" rIns="0" bIns="0" rtlCol="0" anchor="ctr">
            <a:normAutofit/>
          </a:bodyPr>
          <a:lstStyle/>
          <a:p>
            <a:pPr algn="ctr" indent="0" marL="0">
              <a:lnSpc>
                <a:spcPts val="1440"/>
              </a:lnSpc>
              <a:buNone/>
            </a:pPr>
            <a:r>
              <a:rPr lang="en-US" sz="1200" b="1" spc="150" kern="0" dirty="0">
                <a:solidFill>
                  <a:srgbClr val="08505A"/>
                </a:solidFill>
                <a:latin typeface="IBM Plex Sans" pitchFamily="34" charset="0"/>
                <a:ea typeface="IBM Plex Sans" pitchFamily="34" charset="-122"/>
                <a:cs typeface="IBM Plex Sans" pitchFamily="34" charset="-120"/>
              </a:rPr>
              <a:t>NEXT</a:t>
            </a:r>
            <a:endParaRPr lang="en-US" sz="1200" dirty="0"/>
          </a:p>
        </p:txBody>
      </p:sp>
      <p:sp>
        <p:nvSpPr>
          <p:cNvPr id="17" name="Text 15"/>
          <p:cNvSpPr/>
          <p:nvPr/>
        </p:nvSpPr>
        <p:spPr>
          <a:xfrm>
            <a:off x="4470400" y="2651758"/>
            <a:ext cx="33487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Validate in India</a:t>
            </a:r>
            <a:endParaRPr lang="en-US" sz="2200" dirty="0"/>
          </a:p>
        </p:txBody>
      </p:sp>
      <p:sp>
        <p:nvSpPr>
          <p:cNvPr id="18" name="Shape 16"/>
          <p:cNvSpPr/>
          <p:nvPr/>
        </p:nvSpPr>
        <p:spPr>
          <a:xfrm>
            <a:off x="4470400" y="3091817"/>
            <a:ext cx="3251200" cy="0"/>
          </a:xfrm>
          <a:prstGeom prst="line">
            <a:avLst/>
          </a:prstGeom>
          <a:noFill/>
          <a:ln w="6350">
            <a:solidFill>
              <a:srgbClr val="D5D8CF"/>
            </a:solidFill>
            <a:prstDash val="solid"/>
          </a:ln>
        </p:spPr>
      </p:sp>
      <p:sp>
        <p:nvSpPr>
          <p:cNvPr id="19" name="Text 17"/>
          <p:cNvSpPr/>
          <p:nvPr/>
        </p:nvSpPr>
        <p:spPr>
          <a:xfrm>
            <a:off x="4470400" y="3195322"/>
            <a:ext cx="334873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Validate on consented, ethics-approved Indian clinic data</a:t>
            </a:r>
            <a:endParaRPr lang="en-US" sz="1600" dirty="0"/>
          </a:p>
        </p:txBody>
      </p:sp>
      <p:sp>
        <p:nvSpPr>
          <p:cNvPr id="20" name="Shape 18"/>
          <p:cNvSpPr/>
          <p:nvPr/>
        </p:nvSpPr>
        <p:spPr>
          <a:xfrm>
            <a:off x="4470400" y="3828417"/>
            <a:ext cx="3251200" cy="0"/>
          </a:xfrm>
          <a:prstGeom prst="line">
            <a:avLst/>
          </a:prstGeom>
          <a:noFill/>
          <a:ln w="6350">
            <a:solidFill>
              <a:srgbClr val="D5D8CF"/>
            </a:solidFill>
            <a:prstDash val="solid"/>
          </a:ln>
        </p:spPr>
      </p:sp>
      <p:sp>
        <p:nvSpPr>
          <p:cNvPr id="21" name="Text 19"/>
          <p:cNvSpPr/>
          <p:nvPr/>
        </p:nvSpPr>
        <p:spPr>
          <a:xfrm>
            <a:off x="4470400" y="3931922"/>
            <a:ext cx="334873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Add an Indian food database for meal macros</a:t>
            </a:r>
            <a:endParaRPr lang="en-US" sz="1600" dirty="0"/>
          </a:p>
        </p:txBody>
      </p:sp>
      <p:sp>
        <p:nvSpPr>
          <p:cNvPr id="22" name="Shape 20"/>
          <p:cNvSpPr/>
          <p:nvPr/>
        </p:nvSpPr>
        <p:spPr>
          <a:xfrm>
            <a:off x="4470400" y="4565017"/>
            <a:ext cx="3251200" cy="0"/>
          </a:xfrm>
          <a:prstGeom prst="line">
            <a:avLst/>
          </a:prstGeom>
          <a:noFill/>
          <a:ln w="6350">
            <a:solidFill>
              <a:srgbClr val="D5D8CF"/>
            </a:solidFill>
            <a:prstDash val="solid"/>
          </a:ln>
        </p:spPr>
      </p:sp>
      <p:sp>
        <p:nvSpPr>
          <p:cNvPr id="23" name="Text 21"/>
          <p:cNvSpPr/>
          <p:nvPr/>
        </p:nvSpPr>
        <p:spPr>
          <a:xfrm>
            <a:off x="4470400" y="4668522"/>
            <a:ext cx="3348736"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Add sleep and heart-rate variability</a:t>
            </a:r>
            <a:endParaRPr lang="en-US" sz="1600" dirty="0"/>
          </a:p>
        </p:txBody>
      </p:sp>
      <p:sp>
        <p:nvSpPr>
          <p:cNvPr id="24" name="Text 22"/>
          <p:cNvSpPr/>
          <p:nvPr/>
        </p:nvSpPr>
        <p:spPr>
          <a:xfrm>
            <a:off x="8128000" y="2265685"/>
            <a:ext cx="855742" cy="284480"/>
          </a:xfrm>
          <a:prstGeom prst="roundRect">
            <a:avLst>
              <a:gd name="adj" fmla="val 50000"/>
            </a:avLst>
          </a:prstGeom>
          <a:solidFill>
            <a:srgbClr val="E6E3D8"/>
          </a:solidFill>
          <a:ln/>
        </p:spPr>
        <p:txBody>
          <a:bodyPr wrap="none" lIns="0" tIns="0" rIns="0" bIns="0" rtlCol="0" anchor="ctr">
            <a:normAutofit/>
          </a:bodyPr>
          <a:lstStyle/>
          <a:p>
            <a:pPr algn="ctr" indent="0" marL="0">
              <a:lnSpc>
                <a:spcPts val="1440"/>
              </a:lnSpc>
              <a:buNone/>
            </a:pPr>
            <a:r>
              <a:rPr lang="en-US" sz="1200" b="1" spc="150" kern="0" dirty="0">
                <a:solidFill>
                  <a:srgbClr val="4A5A5D"/>
                </a:solidFill>
                <a:latin typeface="IBM Plex Sans" pitchFamily="34" charset="0"/>
                <a:ea typeface="IBM Plex Sans" pitchFamily="34" charset="-122"/>
                <a:cs typeface="IBM Plex Sans" pitchFamily="34" charset="-120"/>
              </a:rPr>
              <a:t>LATER</a:t>
            </a:r>
            <a:endParaRPr lang="en-US" sz="1200" dirty="0"/>
          </a:p>
        </p:txBody>
      </p:sp>
      <p:sp>
        <p:nvSpPr>
          <p:cNvPr id="25" name="Text 23"/>
          <p:cNvSpPr/>
          <p:nvPr/>
        </p:nvSpPr>
        <p:spPr>
          <a:xfrm>
            <a:off x="8128000" y="2651758"/>
            <a:ext cx="3348736"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0292E"/>
                </a:solidFill>
                <a:latin typeface="Source Serif 4" pitchFamily="18" charset="0"/>
                <a:ea typeface="Source Serif 4" pitchFamily="18" charset="-122"/>
                <a:cs typeface="Source Serif 4" pitchFamily="18" charset="-120"/>
              </a:rPr>
              <a:t>Extend the twin</a:t>
            </a:r>
            <a:endParaRPr lang="en-US" sz="2200" dirty="0"/>
          </a:p>
        </p:txBody>
      </p:sp>
      <p:sp>
        <p:nvSpPr>
          <p:cNvPr id="26" name="Shape 24"/>
          <p:cNvSpPr/>
          <p:nvPr/>
        </p:nvSpPr>
        <p:spPr>
          <a:xfrm>
            <a:off x="8128000" y="3091817"/>
            <a:ext cx="3251200" cy="0"/>
          </a:xfrm>
          <a:prstGeom prst="line">
            <a:avLst/>
          </a:prstGeom>
          <a:noFill/>
          <a:ln w="6350">
            <a:solidFill>
              <a:srgbClr val="D5D8CF"/>
            </a:solidFill>
            <a:prstDash val="solid"/>
          </a:ln>
        </p:spPr>
      </p:sp>
      <p:sp>
        <p:nvSpPr>
          <p:cNvPr id="27" name="Text 25"/>
          <p:cNvSpPr/>
          <p:nvPr/>
        </p:nvSpPr>
        <p:spPr>
          <a:xfrm>
            <a:off x="8128000" y="3195322"/>
            <a:ext cx="334873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Other conditions, such as hypertension, on the same core</a:t>
            </a:r>
            <a:endParaRPr lang="en-US" sz="1600" dirty="0"/>
          </a:p>
        </p:txBody>
      </p:sp>
      <p:sp>
        <p:nvSpPr>
          <p:cNvPr id="28" name="Shape 26"/>
          <p:cNvSpPr/>
          <p:nvPr/>
        </p:nvSpPr>
        <p:spPr>
          <a:xfrm>
            <a:off x="8128000" y="3828417"/>
            <a:ext cx="3251200" cy="0"/>
          </a:xfrm>
          <a:prstGeom prst="line">
            <a:avLst/>
          </a:prstGeom>
          <a:noFill/>
          <a:ln w="6350">
            <a:solidFill>
              <a:srgbClr val="D5D8CF"/>
            </a:solidFill>
            <a:prstDash val="solid"/>
          </a:ln>
        </p:spPr>
      </p:sp>
      <p:sp>
        <p:nvSpPr>
          <p:cNvPr id="29" name="Text 27"/>
          <p:cNvSpPr/>
          <p:nvPr/>
        </p:nvSpPr>
        <p:spPr>
          <a:xfrm>
            <a:off x="8128000" y="3931922"/>
            <a:ext cx="3348736" cy="5537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FHIR links to hospital record systems</a:t>
            </a:r>
            <a:endParaRPr lang="en-US" sz="1600" dirty="0"/>
          </a:p>
        </p:txBody>
      </p:sp>
      <p:sp>
        <p:nvSpPr>
          <p:cNvPr id="30" name="Shape 28"/>
          <p:cNvSpPr/>
          <p:nvPr/>
        </p:nvSpPr>
        <p:spPr>
          <a:xfrm>
            <a:off x="8128000" y="4565017"/>
            <a:ext cx="3251200" cy="0"/>
          </a:xfrm>
          <a:prstGeom prst="line">
            <a:avLst/>
          </a:prstGeom>
          <a:noFill/>
          <a:ln w="6350">
            <a:solidFill>
              <a:srgbClr val="D5D8CF"/>
            </a:solidFill>
            <a:prstDash val="solid"/>
          </a:ln>
        </p:spPr>
      </p:sp>
      <p:sp>
        <p:nvSpPr>
          <p:cNvPr id="31" name="Text 29"/>
          <p:cNvSpPr/>
          <p:nvPr/>
        </p:nvSpPr>
        <p:spPr>
          <a:xfrm>
            <a:off x="8128000" y="4668522"/>
            <a:ext cx="3348736"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4484C"/>
                </a:solidFill>
                <a:latin typeface="IBM Plex Sans" pitchFamily="34" charset="0"/>
                <a:ea typeface="IBM Plex Sans" pitchFamily="34" charset="-122"/>
                <a:cs typeface="IBM Plex Sans" pitchFamily="34" charset="-120"/>
              </a:rPr>
              <a:t>A prospective study with clinicians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4EEE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TRUST</a:t>
            </a:r>
            <a:endParaRPr lang="en-US" sz="1200" dirty="0"/>
          </a:p>
        </p:txBody>
      </p:sp>
      <p:sp>
        <p:nvSpPr>
          <p:cNvPr id="3" name="Text 1"/>
          <p:cNvSpPr/>
          <p:nvPr>
            <p:ph type="title"/>
          </p:nvPr>
        </p:nvSpPr>
        <p:spPr>
          <a:xfrm>
            <a:off x="812800" y="11023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92E"/>
                </a:solidFill>
                <a:latin typeface="Source Serif 4" pitchFamily="18" charset="0"/>
                <a:ea typeface="Source Serif 4" pitchFamily="18" charset="-122"/>
                <a:cs typeface="Source Serif 4" pitchFamily="18" charset="-120"/>
              </a:rPr>
              <a:t>Licences and reproducibility</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9445"/>
          <a:ext cx="10556240" cy="1981200"/>
        </p:xfrm>
        <a:graphic>
          <a:graphicData uri="http://schemas.openxmlformats.org/drawingml/2006/table">
            <a:tbl>
              <a:tblPr/>
              <a:tblGrid>
                <a:gridCol w="2111248"/>
                <a:gridCol w="2322373"/>
                <a:gridCol w="6122619"/>
              </a:tblGrid>
              <a:tr h="330200">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Component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Licence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c>
                  <a:txBody>
                    <a:bodyPr/>
                    <a:lstStyle/>
                    <a:p>
                      <a:pPr indent="0" marL="0">
                        <a:lnSpc>
                          <a:spcPts val="1680"/>
                        </a:lnSpc>
                        <a:buNone/>
                      </a:pPr>
                      <a:r>
                        <a:rPr lang="en-US" sz="1200" b="1" dirty="0">
                          <a:solidFill>
                            <a:srgbClr val="F5F3EC"/>
                          </a:solidFill>
                          <a:latin typeface="IBM Plex Sans" pitchFamily="34" charset="0"/>
                          <a:ea typeface="IBM Plex Sans" pitchFamily="34" charset="-122"/>
                          <a:cs typeface="IBM Plex Sans" pitchFamily="34" charset="-120"/>
                        </a:rPr>
                        <a:t>What it means for 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12428"/>
                      </a:solidFill>
                      <a:prstDash val="solid"/>
                      <a:round/>
                      <a:headEnd type="none" w="med" len="med"/>
                      <a:tailEnd type="none" w="med" len="med"/>
                    </a:lnL>
                    <a:lnR w="12700" cap="flat" cmpd="sng" algn="ctr">
                      <a:solidFill>
                        <a:srgbClr val="112428"/>
                      </a:solidFill>
                      <a:prstDash val="solid"/>
                      <a:round/>
                      <a:headEnd type="none" w="med" len="med"/>
                      <a:tailEnd type="none" w="med" len="med"/>
                    </a:lnR>
                    <a:lnT w="12700" cap="flat" cmpd="sng" algn="ctr">
                      <a:solidFill>
                        <a:srgbClr val="B6BEBB"/>
                      </a:solidFill>
                      <a:prstDash val="solid"/>
                      <a:round/>
                      <a:headEnd type="none" w="med" len="med"/>
                      <a:tailEnd type="none" w="med" len="med"/>
                    </a:lnT>
                    <a:lnB w="12700" cap="flat" cmpd="sng" algn="ctr">
                      <a:solidFill>
                        <a:srgbClr val="112428"/>
                      </a:solidFill>
                      <a:prstDash val="solid"/>
                      <a:round/>
                      <a:headEnd type="none" w="med" len="med"/>
                      <a:tailEnd type="none" w="med" len="med"/>
                    </a:lnB>
                    <a:solidFill>
                      <a:srgbClr val="10292E"/>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Our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9C4A07"/>
                          </a:solidFill>
                          <a:latin typeface="IBM Plex Sans" pitchFamily="34" charset="0"/>
                          <a:ea typeface="IBM Plex Sans" pitchFamily="34" charset="-122"/>
                          <a:cs typeface="IBM Plex Sans" pitchFamily="34" charset="-120"/>
                        </a:rPr>
                        <a:t>MIT [confirm]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Anyone may reuse it with attribution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12428"/>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CGMacros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CC BY-NC-SA 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Attribution, non-commercial, share-alike; no raw data in repo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BIG IDEAs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ODC-By v1.0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Attribution; no raw data in repo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ShanghaiT2DM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9C4A07"/>
                          </a:solidFill>
                          <a:latin typeface="IBM Plex Sans" pitchFamily="34" charset="0"/>
                          <a:ea typeface="IBM Plex Sans" pitchFamily="34" charset="-122"/>
                          <a:cs typeface="IBM Plex Sans" pitchFamily="34" charset="-120"/>
                        </a:rPr>
                        <a:t>None stated [verify]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Released without a licence; optional, use only if confirmed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30200">
                <a:tc>
                  <a:txBody>
                    <a:bodyPr/>
                    <a:lstStyle/>
                    <a:p>
                      <a:pPr indent="0" marL="0">
                        <a:lnSpc>
                          <a:spcPts val="1680"/>
                        </a:lnSpc>
                        <a:buNone/>
                      </a:pPr>
                      <a:r>
                        <a:rPr lang="en-US" sz="1200" dirty="0">
                          <a:solidFill>
                            <a:srgbClr val="10292E"/>
                          </a:solidFill>
                          <a:latin typeface="IBM Plex Sans" pitchFamily="34" charset="0"/>
                          <a:ea typeface="IBM Plex Sans" pitchFamily="34" charset="-122"/>
                          <a:cs typeface="IBM Plex Sans" pitchFamily="34" charset="-120"/>
                        </a:rPr>
                        <a:t>Python packages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EBB"/>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Their own licences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Listed in the repo with pip-licenses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5" name="Shape 2"/>
          <p:cNvSpPr/>
          <p:nvPr/>
        </p:nvSpPr>
        <p:spPr>
          <a:xfrm>
            <a:off x="815975" y="4107817"/>
            <a:ext cx="5175250" cy="1659890"/>
          </a:xfrm>
          <a:prstGeom prst="roundRect">
            <a:avLst>
              <a:gd name="adj" fmla="val 5930"/>
            </a:avLst>
          </a:prstGeom>
          <a:solidFill>
            <a:srgbClr val="FCFBF8"/>
          </a:solidFill>
          <a:ln w="6350">
            <a:solidFill>
              <a:srgbClr val="C7D8D4"/>
            </a:solidFill>
            <a:prstDash val="solid"/>
          </a:ln>
        </p:spPr>
      </p:sp>
      <p:sp>
        <p:nvSpPr>
          <p:cNvPr id="6" name="Text 3"/>
          <p:cNvSpPr/>
          <p:nvPr/>
        </p:nvSpPr>
        <p:spPr>
          <a:xfrm>
            <a:off x="1021080" y="4312927"/>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REPRODUCIBLE</a:t>
            </a:r>
            <a:endParaRPr lang="en-US" sz="1200" dirty="0"/>
          </a:p>
        </p:txBody>
      </p:sp>
      <p:sp>
        <p:nvSpPr>
          <p:cNvPr id="7" name="Text 4"/>
          <p:cNvSpPr/>
          <p:nvPr/>
        </p:nvSpPr>
        <p:spPr>
          <a:xfrm>
            <a:off x="1021080" y="4602485"/>
            <a:ext cx="2692797" cy="345440"/>
          </a:xfrm>
          <a:prstGeom prst="roundRect">
            <a:avLst>
              <a:gd name="adj" fmla="val 22059"/>
            </a:avLst>
          </a:prstGeom>
          <a:solidFill>
            <a:srgbClr val="10292E"/>
          </a:solidFill>
          <a:ln/>
        </p:spPr>
        <p:txBody>
          <a:bodyPr wrap="none" lIns="0" tIns="0" rIns="0" bIns="0" rtlCol="0" anchor="ctr">
            <a:normAutofit/>
          </a:bodyPr>
          <a:lstStyle/>
          <a:p>
            <a:pPr algn="ctr" indent="0" marL="0">
              <a:lnSpc>
                <a:spcPts val="1920"/>
              </a:lnSpc>
              <a:buNone/>
            </a:pPr>
            <a:r>
              <a:rPr lang="en-US" sz="1600" b="1" dirty="0">
                <a:solidFill>
                  <a:srgbClr val="F5F3EC"/>
                </a:solidFill>
                <a:latin typeface="Courier New" pitchFamily="49" charset="0"/>
                <a:ea typeface="Courier New" pitchFamily="49" charset="-122"/>
                <a:cs typeface="Courier New" pitchFamily="49" charset="-120"/>
              </a:rPr>
              <a:t>python -m dtwin demo</a:t>
            </a:r>
            <a:endParaRPr lang="en-US" sz="1600" dirty="0"/>
          </a:p>
        </p:txBody>
      </p:sp>
      <p:sp>
        <p:nvSpPr>
          <p:cNvPr id="8" name="Text 5"/>
          <p:cNvSpPr/>
          <p:nvPr/>
        </p:nvSpPr>
        <p:spPr>
          <a:xfrm>
            <a:off x="1021080" y="5024127"/>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Runs on a bundled synthetic sample, with fixed seeds and pinned dependencies. No raw data is committed to the repository.</a:t>
            </a:r>
            <a:endParaRPr lang="en-US" sz="1200" dirty="0"/>
          </a:p>
        </p:txBody>
      </p:sp>
      <p:sp>
        <p:nvSpPr>
          <p:cNvPr id="9" name="Shape 6"/>
          <p:cNvSpPr/>
          <p:nvPr/>
        </p:nvSpPr>
        <p:spPr>
          <a:xfrm>
            <a:off x="6200775" y="4107817"/>
            <a:ext cx="5175250" cy="1659890"/>
          </a:xfrm>
          <a:prstGeom prst="roundRect">
            <a:avLst>
              <a:gd name="adj" fmla="val 5930"/>
            </a:avLst>
          </a:prstGeom>
          <a:solidFill>
            <a:srgbClr val="FCFBF8"/>
          </a:solidFill>
          <a:ln w="6350">
            <a:solidFill>
              <a:srgbClr val="C7D8D4"/>
            </a:solidFill>
            <a:prstDash val="solid"/>
          </a:ln>
        </p:spPr>
      </p:sp>
      <p:sp>
        <p:nvSpPr>
          <p:cNvPr id="10" name="Text 7"/>
          <p:cNvSpPr/>
          <p:nvPr/>
        </p:nvSpPr>
        <p:spPr>
          <a:xfrm>
            <a:off x="6405880" y="4312927"/>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6E7C"/>
                </a:solidFill>
                <a:latin typeface="IBM Plex Sans" pitchFamily="34" charset="0"/>
                <a:ea typeface="IBM Plex Sans" pitchFamily="34" charset="-122"/>
                <a:cs typeface="IBM Plex Sans" pitchFamily="34" charset="-120"/>
              </a:rPr>
              <a:t>DELIVERABLES</a:t>
            </a:r>
            <a:endParaRPr lang="en-US" sz="1200" dirty="0"/>
          </a:p>
        </p:txBody>
      </p:sp>
      <p:sp>
        <p:nvSpPr>
          <p:cNvPr id="11" name="Text 8"/>
          <p:cNvSpPr/>
          <p:nvPr/>
        </p:nvSpPr>
        <p:spPr>
          <a:xfrm>
            <a:off x="6405880" y="4602485"/>
            <a:ext cx="490799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0292E"/>
                </a:solidFill>
                <a:latin typeface="Source Serif 4" pitchFamily="18" charset="0"/>
                <a:ea typeface="Source Serif 4" pitchFamily="18" charset="-122"/>
                <a:cs typeface="Source Serif 4" pitchFamily="18" charset="-120"/>
              </a:rPr>
              <a:t>Four items in the repository</a:t>
            </a:r>
            <a:endParaRPr lang="en-US" sz="1600" dirty="0"/>
          </a:p>
        </p:txBody>
      </p:sp>
      <p:sp>
        <p:nvSpPr>
          <p:cNvPr id="12" name="Text 9"/>
          <p:cNvSpPr/>
          <p:nvPr/>
        </p:nvSpPr>
        <p:spPr>
          <a:xfrm>
            <a:off x="6405880" y="4922527"/>
            <a:ext cx="490799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4484C"/>
                </a:solidFill>
                <a:latin typeface="IBM Plex Sans" pitchFamily="34" charset="0"/>
                <a:ea typeface="IBM Plex Sans" pitchFamily="34" charset="-122"/>
                <a:cs typeface="IBM Plex Sans" pitchFamily="34" charset="-120"/>
              </a:rPr>
              <a:t>README with team details and licences, architecture diagram (PDF or PPT), this presentation (PDF or PPT) and a video of at least 20 minutes.</a:t>
            </a:r>
            <a:endParaRPr lang="en-US" sz="1200" dirty="0"/>
          </a:p>
        </p:txBody>
      </p:sp>
      <p:sp>
        <p:nvSpPr>
          <p:cNvPr id="13" name="Text 10"/>
          <p:cNvSpPr/>
          <p:nvPr/>
        </p:nvSpPr>
        <p:spPr>
          <a:xfrm>
            <a:off x="812800" y="6268727"/>
            <a:ext cx="10883392" cy="20828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5B6E71"/>
                </a:solidFill>
                <a:latin typeface="IBM Plex Sans" pitchFamily="34" charset="0"/>
                <a:ea typeface="IBM Plex Sans" pitchFamily="34" charset="-122"/>
                <a:cs typeface="IBM Plex Sans" pitchFamily="34" charset="-120"/>
              </a:rPr>
              <a:t>Sources: PhysioNet (CGMacros, BIG IDEAs); Glucose-ML survey, arXiv 2507.14077 (ShanghaiT2DM). Check each licence before reuse.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B30"/>
        </a:solidFill>
      </p:bgPr>
    </p:bg>
    <p:spTree>
      <p:nvGrpSpPr>
        <p:cNvPr id="1" name=""/>
        <p:cNvGrpSpPr/>
        <p:nvPr/>
      </p:nvGrpSpPr>
      <p:grpSpPr>
        <a:xfrm>
          <a:off x="0" y="0"/>
          <a:ext cx="0" cy="0"/>
          <a:chOff x="0" y="0"/>
          <a:chExt cx="0" cy="0"/>
        </a:xfrm>
      </p:grpSpPr>
      <p:pic>
        <p:nvPicPr>
          <p:cNvPr id="2" name="Image 0" descr="Schematic glucose curve whose two-hour forecast band rises across a dashed 180 mg/dL line">    </p:cNvPr>
          <p:cNvPicPr>
            <a:picLocks noChangeAspect="1"/>
          </p:cNvPicPr>
          <p:nvPr/>
        </p:nvPicPr>
        <p:blipFill>
          <a:blip r:embed="rId1"/>
          <a:srcRect l="0" r="0" t="0" b="0"/>
          <a:stretch/>
        </p:blipFill>
        <p:spPr>
          <a:xfrm>
            <a:off x="7569200" y="812800"/>
            <a:ext cx="3810000" cy="1651000"/>
          </a:xfrm>
          <a:prstGeom prst="rect">
            <a:avLst/>
          </a:prstGeom>
        </p:spPr>
      </p:pic>
      <p:sp>
        <p:nvSpPr>
          <p:cNvPr id="3" name="Text 0"/>
          <p:cNvSpPr/>
          <p:nvPr/>
        </p:nvSpPr>
        <p:spPr>
          <a:xfrm>
            <a:off x="812800" y="812800"/>
            <a:ext cx="654050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BD3"/>
                </a:solidFill>
                <a:latin typeface="IBM Plex Sans" pitchFamily="34" charset="0"/>
                <a:ea typeface="IBM Plex Sans" pitchFamily="34" charset="-122"/>
                <a:cs typeface="IBM Plex Sans" pitchFamily="34" charset="-120"/>
              </a:rPr>
              <a:t>TEAM AND REPOSITORY</a:t>
            </a:r>
            <a:endParaRPr lang="en-US" sz="1200" dirty="0"/>
          </a:p>
        </p:txBody>
      </p:sp>
      <p:sp>
        <p:nvSpPr>
          <p:cNvPr id="4" name="Text 1"/>
          <p:cNvSpPr/>
          <p:nvPr>
            <p:ph type="title"/>
          </p:nvPr>
        </p:nvSpPr>
        <p:spPr>
          <a:xfrm>
            <a:off x="812800" y="1178558"/>
            <a:ext cx="6540500" cy="77216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5F3EC"/>
                </a:solidFill>
                <a:latin typeface="Source Serif 4" pitchFamily="18" charset="0"/>
                <a:ea typeface="Source Serif 4" pitchFamily="18" charset="-122"/>
                <a:cs typeface="Source Serif 4" pitchFamily="18" charset="-120"/>
              </a:rPr>
              <a:t>[Team name]</a:t>
            </a:r>
            <a:endParaRPr lang="en-US" sz="5600" dirty="0"/>
          </a:p>
        </p:txBody>
      </p:sp>
      <p:sp>
        <p:nvSpPr>
          <p:cNvPr id="5" name="Text 2"/>
          <p:cNvSpPr/>
          <p:nvPr/>
        </p:nvSpPr>
        <p:spPr>
          <a:xfrm>
            <a:off x="812800" y="2077727"/>
            <a:ext cx="654050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BFC2"/>
                </a:solidFill>
                <a:latin typeface="IBM Plex Sans" pitchFamily="34" charset="0"/>
                <a:ea typeface="IBM Plex Sans" pitchFamily="34" charset="-122"/>
                <a:cs typeface="IBM Plex Sans" pitchFamily="34" charset="-120"/>
              </a:rPr>
              <a:t>[College or incubator]</a:t>
            </a:r>
            <a:endParaRPr lang="en-US" sz="2200" dirty="0"/>
          </a:p>
        </p:txBody>
      </p:sp>
      <p:sp>
        <p:nvSpPr>
          <p:cNvPr id="6" name="Shape 3"/>
          <p:cNvSpPr/>
          <p:nvPr/>
        </p:nvSpPr>
        <p:spPr>
          <a:xfrm>
            <a:off x="815975" y="3296283"/>
            <a:ext cx="2483485" cy="1182370"/>
          </a:xfrm>
          <a:prstGeom prst="roundRect">
            <a:avLst>
              <a:gd name="adj" fmla="val 8324"/>
            </a:avLst>
          </a:prstGeom>
          <a:solidFill>
            <a:srgbClr val="143A41"/>
          </a:solidFill>
          <a:ln w="6350">
            <a:solidFill>
              <a:srgbClr val="2F5A61"/>
            </a:solidFill>
            <a:prstDash val="solid"/>
          </a:ln>
        </p:spPr>
      </p:sp>
      <p:sp>
        <p:nvSpPr>
          <p:cNvPr id="7" name="Text 4"/>
          <p:cNvSpPr/>
          <p:nvPr/>
        </p:nvSpPr>
        <p:spPr>
          <a:xfrm>
            <a:off x="1021080" y="3501392"/>
            <a:ext cx="213547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TEAM LEADER</a:t>
            </a:r>
            <a:endParaRPr lang="en-US" sz="1200" dirty="0"/>
          </a:p>
        </p:txBody>
      </p:sp>
      <p:sp>
        <p:nvSpPr>
          <p:cNvPr id="8" name="Text 5"/>
          <p:cNvSpPr/>
          <p:nvPr/>
        </p:nvSpPr>
        <p:spPr>
          <a:xfrm>
            <a:off x="1021080" y="3765550"/>
            <a:ext cx="21354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IBM Plex Sans" pitchFamily="34" charset="0"/>
                <a:ea typeface="IBM Plex Sans" pitchFamily="34" charset="-122"/>
                <a:cs typeface="IBM Plex Sans" pitchFamily="34" charset="-120"/>
              </a:rPr>
              <a:t>[Leader name]</a:t>
            </a:r>
            <a:endParaRPr lang="en-US" sz="1600" dirty="0"/>
          </a:p>
        </p:txBody>
      </p:sp>
      <p:sp>
        <p:nvSpPr>
          <p:cNvPr id="9" name="Text 6"/>
          <p:cNvSpPr/>
          <p:nvPr/>
        </p:nvSpPr>
        <p:spPr>
          <a:xfrm>
            <a:off x="1021080" y="4060192"/>
            <a:ext cx="21354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FC2"/>
                </a:solidFill>
                <a:latin typeface="IBM Plex Sans" pitchFamily="34" charset="0"/>
                <a:ea typeface="IBM Plex Sans" pitchFamily="34" charset="-122"/>
                <a:cs typeface="IBM Plex Sans" pitchFamily="34" charset="-120"/>
              </a:rPr>
              <a:t>[Role]</a:t>
            </a:r>
            <a:endParaRPr lang="en-US" sz="1200" dirty="0"/>
          </a:p>
        </p:txBody>
      </p:sp>
      <p:sp>
        <p:nvSpPr>
          <p:cNvPr id="10" name="Shape 7"/>
          <p:cNvSpPr/>
          <p:nvPr/>
        </p:nvSpPr>
        <p:spPr>
          <a:xfrm>
            <a:off x="3509010" y="3296283"/>
            <a:ext cx="2483485" cy="1182370"/>
          </a:xfrm>
          <a:prstGeom prst="roundRect">
            <a:avLst>
              <a:gd name="adj" fmla="val 8324"/>
            </a:avLst>
          </a:prstGeom>
          <a:solidFill>
            <a:srgbClr val="143A41"/>
          </a:solidFill>
          <a:ln w="6350">
            <a:solidFill>
              <a:srgbClr val="2F5A61"/>
            </a:solidFill>
            <a:prstDash val="solid"/>
          </a:ln>
        </p:spPr>
      </p:sp>
      <p:sp>
        <p:nvSpPr>
          <p:cNvPr id="11" name="Text 8"/>
          <p:cNvSpPr/>
          <p:nvPr/>
        </p:nvSpPr>
        <p:spPr>
          <a:xfrm>
            <a:off x="3714115" y="3501392"/>
            <a:ext cx="213547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BD3"/>
                </a:solidFill>
                <a:latin typeface="IBM Plex Sans" pitchFamily="34" charset="0"/>
                <a:ea typeface="IBM Plex Sans" pitchFamily="34" charset="-122"/>
                <a:cs typeface="IBM Plex Sans" pitchFamily="34" charset="-120"/>
              </a:rPr>
              <a:t>MEMBER</a:t>
            </a:r>
            <a:endParaRPr lang="en-US" sz="1200" dirty="0"/>
          </a:p>
        </p:txBody>
      </p:sp>
      <p:sp>
        <p:nvSpPr>
          <p:cNvPr id="12" name="Text 9"/>
          <p:cNvSpPr/>
          <p:nvPr/>
        </p:nvSpPr>
        <p:spPr>
          <a:xfrm>
            <a:off x="3714115" y="3765550"/>
            <a:ext cx="21354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IBM Plex Sans" pitchFamily="34" charset="0"/>
                <a:ea typeface="IBM Plex Sans" pitchFamily="34" charset="-122"/>
                <a:cs typeface="IBM Plex Sans" pitchFamily="34" charset="-120"/>
              </a:rPr>
              <a:t>[Member name]</a:t>
            </a:r>
            <a:endParaRPr lang="en-US" sz="1600" dirty="0"/>
          </a:p>
        </p:txBody>
      </p:sp>
      <p:sp>
        <p:nvSpPr>
          <p:cNvPr id="13" name="Text 10"/>
          <p:cNvSpPr/>
          <p:nvPr/>
        </p:nvSpPr>
        <p:spPr>
          <a:xfrm>
            <a:off x="3714115" y="4060192"/>
            <a:ext cx="21354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FC2"/>
                </a:solidFill>
                <a:latin typeface="IBM Plex Sans" pitchFamily="34" charset="0"/>
                <a:ea typeface="IBM Plex Sans" pitchFamily="34" charset="-122"/>
                <a:cs typeface="IBM Plex Sans" pitchFamily="34" charset="-120"/>
              </a:rPr>
              <a:t>[Role]</a:t>
            </a:r>
            <a:endParaRPr lang="en-US" sz="1200" dirty="0"/>
          </a:p>
        </p:txBody>
      </p:sp>
      <p:sp>
        <p:nvSpPr>
          <p:cNvPr id="14" name="Shape 11"/>
          <p:cNvSpPr/>
          <p:nvPr/>
        </p:nvSpPr>
        <p:spPr>
          <a:xfrm>
            <a:off x="6202045" y="3296283"/>
            <a:ext cx="2483485" cy="1182370"/>
          </a:xfrm>
          <a:prstGeom prst="roundRect">
            <a:avLst>
              <a:gd name="adj" fmla="val 8324"/>
            </a:avLst>
          </a:prstGeom>
          <a:solidFill>
            <a:srgbClr val="143A41"/>
          </a:solidFill>
          <a:ln w="6350">
            <a:solidFill>
              <a:srgbClr val="2F5A61"/>
            </a:solidFill>
            <a:prstDash val="solid"/>
          </a:ln>
        </p:spPr>
      </p:sp>
      <p:sp>
        <p:nvSpPr>
          <p:cNvPr id="15" name="Text 12"/>
          <p:cNvSpPr/>
          <p:nvPr/>
        </p:nvSpPr>
        <p:spPr>
          <a:xfrm>
            <a:off x="6407150" y="3501392"/>
            <a:ext cx="213547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BD3"/>
                </a:solidFill>
                <a:latin typeface="IBM Plex Sans" pitchFamily="34" charset="0"/>
                <a:ea typeface="IBM Plex Sans" pitchFamily="34" charset="-122"/>
                <a:cs typeface="IBM Plex Sans" pitchFamily="34" charset="-120"/>
              </a:rPr>
              <a:t>MEMBER</a:t>
            </a:r>
            <a:endParaRPr lang="en-US" sz="1200" dirty="0"/>
          </a:p>
        </p:txBody>
      </p:sp>
      <p:sp>
        <p:nvSpPr>
          <p:cNvPr id="16" name="Text 13"/>
          <p:cNvSpPr/>
          <p:nvPr/>
        </p:nvSpPr>
        <p:spPr>
          <a:xfrm>
            <a:off x="6407150" y="3765550"/>
            <a:ext cx="21354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IBM Plex Sans" pitchFamily="34" charset="0"/>
                <a:ea typeface="IBM Plex Sans" pitchFamily="34" charset="-122"/>
                <a:cs typeface="IBM Plex Sans" pitchFamily="34" charset="-120"/>
              </a:rPr>
              <a:t>[Member name]</a:t>
            </a:r>
            <a:endParaRPr lang="en-US" sz="1600" dirty="0"/>
          </a:p>
        </p:txBody>
      </p:sp>
      <p:sp>
        <p:nvSpPr>
          <p:cNvPr id="17" name="Text 14"/>
          <p:cNvSpPr/>
          <p:nvPr/>
        </p:nvSpPr>
        <p:spPr>
          <a:xfrm>
            <a:off x="6407150" y="4060192"/>
            <a:ext cx="21354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FC2"/>
                </a:solidFill>
                <a:latin typeface="IBM Plex Sans" pitchFamily="34" charset="0"/>
                <a:ea typeface="IBM Plex Sans" pitchFamily="34" charset="-122"/>
                <a:cs typeface="IBM Plex Sans" pitchFamily="34" charset="-120"/>
              </a:rPr>
              <a:t>[Role]</a:t>
            </a:r>
            <a:endParaRPr lang="en-US" sz="1200" dirty="0"/>
          </a:p>
        </p:txBody>
      </p:sp>
      <p:sp>
        <p:nvSpPr>
          <p:cNvPr id="18" name="Shape 15"/>
          <p:cNvSpPr/>
          <p:nvPr/>
        </p:nvSpPr>
        <p:spPr>
          <a:xfrm>
            <a:off x="8898255" y="3299458"/>
            <a:ext cx="2474595" cy="1176020"/>
          </a:xfrm>
          <a:prstGeom prst="roundRect">
            <a:avLst>
              <a:gd name="adj" fmla="val 8099"/>
            </a:avLst>
          </a:prstGeom>
          <a:noFill/>
          <a:ln w="12700">
            <a:solidFill>
              <a:srgbClr val="2F5A61"/>
            </a:solidFill>
            <a:prstDash val="dash"/>
          </a:ln>
        </p:spPr>
      </p:sp>
      <p:sp>
        <p:nvSpPr>
          <p:cNvPr id="19" name="Text 16"/>
          <p:cNvSpPr/>
          <p:nvPr/>
        </p:nvSpPr>
        <p:spPr>
          <a:xfrm>
            <a:off x="9098915" y="3500127"/>
            <a:ext cx="213547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CCBD3"/>
                </a:solidFill>
                <a:latin typeface="IBM Plex Sans" pitchFamily="34" charset="0"/>
                <a:ea typeface="IBM Plex Sans" pitchFamily="34" charset="-122"/>
                <a:cs typeface="IBM Plex Sans" pitchFamily="34" charset="-120"/>
              </a:rPr>
              <a:t>MENTOR</a:t>
            </a:r>
            <a:endParaRPr lang="en-US" sz="1200" dirty="0"/>
          </a:p>
        </p:txBody>
      </p:sp>
      <p:sp>
        <p:nvSpPr>
          <p:cNvPr id="20" name="Text 17"/>
          <p:cNvSpPr/>
          <p:nvPr/>
        </p:nvSpPr>
        <p:spPr>
          <a:xfrm>
            <a:off x="9098915" y="3764285"/>
            <a:ext cx="21354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3EC"/>
                </a:solidFill>
                <a:latin typeface="IBM Plex Sans" pitchFamily="34" charset="0"/>
                <a:ea typeface="IBM Plex Sans" pitchFamily="34" charset="-122"/>
                <a:cs typeface="IBM Plex Sans" pitchFamily="34" charset="-120"/>
              </a:rPr>
              <a:t>[Mentor name]</a:t>
            </a:r>
            <a:endParaRPr lang="en-US" sz="1600" dirty="0"/>
          </a:p>
        </p:txBody>
      </p:sp>
      <p:sp>
        <p:nvSpPr>
          <p:cNvPr id="21" name="Text 18"/>
          <p:cNvSpPr/>
          <p:nvPr/>
        </p:nvSpPr>
        <p:spPr>
          <a:xfrm>
            <a:off x="9098915" y="4058927"/>
            <a:ext cx="21354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FC2"/>
                </a:solidFill>
                <a:latin typeface="IBM Plex Sans" pitchFamily="34" charset="0"/>
                <a:ea typeface="IBM Plex Sans" pitchFamily="34" charset="-122"/>
                <a:cs typeface="IBM Plex Sans" pitchFamily="34" charset="-120"/>
              </a:rPr>
              <a:t>[Affiliation]</a:t>
            </a:r>
            <a:endParaRPr lang="en-US" sz="1200" dirty="0"/>
          </a:p>
        </p:txBody>
      </p:sp>
      <p:sp>
        <p:nvSpPr>
          <p:cNvPr id="22" name="Text 19"/>
          <p:cNvSpPr/>
          <p:nvPr/>
        </p:nvSpPr>
        <p:spPr>
          <a:xfrm>
            <a:off x="812800" y="5334000"/>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FC2"/>
                </a:solidFill>
                <a:latin typeface="IBM Plex Sans" pitchFamily="34" charset="0"/>
                <a:ea typeface="IBM Plex Sans" pitchFamily="34" charset="-122"/>
                <a:cs typeface="IBM Plex Sans" pitchFamily="34" charset="-120"/>
              </a:rPr>
              <a:t>Repository</a:t>
            </a:r>
            <a:endParaRPr lang="en-US" sz="1200" dirty="0"/>
          </a:p>
        </p:txBody>
      </p:sp>
      <p:sp>
        <p:nvSpPr>
          <p:cNvPr id="23" name="Text 20"/>
          <p:cNvSpPr/>
          <p:nvPr/>
        </p:nvSpPr>
        <p:spPr>
          <a:xfrm>
            <a:off x="812800" y="5598158"/>
            <a:ext cx="5232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github.com/[owner]/[TeamName_CollegeName]</a:t>
            </a:r>
            <a:endParaRPr lang="en-US" sz="1600" dirty="0"/>
          </a:p>
        </p:txBody>
      </p:sp>
      <p:sp>
        <p:nvSpPr>
          <p:cNvPr id="24" name="Text 21"/>
          <p:cNvSpPr/>
          <p:nvPr/>
        </p:nvSpPr>
        <p:spPr>
          <a:xfrm>
            <a:off x="6146800" y="5506727"/>
            <a:ext cx="5232400" cy="360680"/>
          </a:xfrm>
          <a:prstGeom prst="rect">
            <a:avLst/>
          </a:prstGeom>
          <a:noFill/>
          <a:ln/>
        </p:spPr>
        <p:txBody>
          <a:bodyPr wrap="square" lIns="0" tIns="0" rIns="0" bIns="0" rtlCol="0" anchor="t">
            <a:normAutofit/>
          </a:bodyPr>
          <a:lstStyle/>
          <a:p>
            <a:pPr algn="r" indent="0" marL="0">
              <a:lnSpc>
                <a:spcPts val="2640"/>
              </a:lnSpc>
              <a:buNone/>
            </a:pPr>
            <a:r>
              <a:rPr lang="en-US" sz="2200" b="1" dirty="0">
                <a:solidFill>
                  <a:srgbClr val="F5F3EC"/>
                </a:solidFill>
                <a:latin typeface="Source Serif 4" pitchFamily="18" charset="0"/>
                <a:ea typeface="Source Serif 4" pitchFamily="18" charset="-122"/>
                <a:cs typeface="Source Serif 4" pitchFamily="18" charset="-120"/>
              </a:rPr>
              <a:t>Thank you · Questions welcome</a:t>
            </a:r>
            <a:endParaRPr lang="en-US" sz="2200" dirty="0"/>
          </a:p>
        </p:txBody>
      </p:sp>
    </p:spTree>
  </p:cSld>
  <p:clrMapOvr>
    <a:masterClrMapping/>
  </p:clrMapOvr>
</p:sld>
</file>

<file path=ppt/theme/theme1.xml><?xml version="1.0" encoding="utf-8"?>
<a:theme xmlns:a="http://schemas.openxmlformats.org/drawingml/2006/main" name="Glucose Digital Twin">
  <a:themeElements>
    <a:clrScheme name="Glucose Digital Twin">
      <a:dk1>
        <a:srgbClr val="10292E"/>
      </a:dk1>
      <a:lt1>
        <a:srgbClr val="F5F3EC"/>
      </a:lt1>
      <a:dk2>
        <a:srgbClr val="495C5E"/>
      </a:dk2>
      <a:lt2>
        <a:srgbClr val="DEDFD9"/>
      </a:lt2>
      <a:accent1>
        <a:srgbClr val="0B6E7C"/>
      </a:accent1>
      <a:accent2>
        <a:srgbClr val="08505A"/>
      </a:accent2>
      <a:accent3>
        <a:srgbClr val="F2A65A"/>
      </a:accent3>
      <a:accent4>
        <a:srgbClr val="9C4A07"/>
      </a:accent4>
      <a:accent5>
        <a:srgbClr val="7A3A05"/>
      </a:accent5>
      <a:accent6>
        <a:srgbClr val="F8E5D0"/>
      </a:accent6>
      <a:hlink>
        <a:srgbClr val="0563C1"/>
      </a:hlink>
      <a:folHlink>
        <a:srgbClr val="954F72"/>
      </a:folHlink>
    </a:clrScheme>
    <a:fontScheme name="Glucose Digital Twin">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Glucose Digital Twin</dc:title>
  <dc:subject/>
  <dc:creator/>
  <cp:lastModifiedBy/>
  <cp:revision>1</cp:revision>
  <dcterms:created xsi:type="dcterms:W3CDTF">2026-10-24T12:42:06Z</dcterms:created>
  <dcterms:modified xsi:type="dcterms:W3CDTF">2026-10-24T12:42:06Z</dcterms:modified>
</cp:coreProperties>
</file>